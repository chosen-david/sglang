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9A0001"/>
                </a:solidFill>
                <a:latin typeface="Microsoft YaHei"/>
              </a:rPr>
              <a:t>Subspace- &amp; Distance-Aware
Two-Level Indexer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2900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111111"/>
                </a:solidFill>
                <a:latin typeface="Microsoft YaHei"/>
              </a:rPr>
              <a:t>面向长上下文 LLM / DeepSeek Sparse Attention 的高效索引与 GPU Kernel Co-design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507492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666666"/>
                </a:solidFill>
                <a:latin typeface="Microsoft YaHei"/>
              </a:rPr>
              <a:t>开题汇报  ·  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Background – 长上下文稀疏注意力的瓶颈正在转移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658368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111111"/>
                </a:solidFill>
                <a:latin typeface="STKaiti"/>
              </a:defRPr>
            </a:pPr>
            <a:r>
              <a:t>●  Sparse Attention 将主注意力从“全量 KV”缩减到 Top-k token，但索引器本身仍可能扫描完整前缀。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111111"/>
                </a:solidFill>
                <a:latin typeface="STKaiti"/>
              </a:defRPr>
            </a:pPr>
            <a:r>
              <a:t>●  随着 Context 从 32K → 128K，Indexer 的显存读取、打分与 Top-k 开销逐渐成为新的主导瓶颈。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111111"/>
                </a:solidFill>
                <a:latin typeface="STKaiti"/>
              </a:defRPr>
            </a:pPr>
            <a:r>
              <a:t>●  已有工作已沿 token / head / query / layer 轴做削减；本课题关注仍未充分利用的 feature/subspace 轴。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43800" y="1234440"/>
            <a:ext cx="3931920" cy="9144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111111"/>
                </a:solidFill>
                <a:latin typeface="Microsoft YaHei"/>
              </a:rPr>
              <a:t>Dense Attention
O(L²)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2560320"/>
            <a:ext cx="3931920" cy="9144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4472C4"/>
                </a:solidFill>
                <a:latin typeface="Microsoft YaHei"/>
              </a:rPr>
              <a:t>Sparse Attention
O(L·k)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3886200"/>
            <a:ext cx="3931920" cy="914400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900" b="1">
                <a:solidFill>
                  <a:srgbClr val="C00000"/>
                </a:solidFill>
                <a:latin typeface="Microsoft YaHei"/>
              </a:rPr>
              <a:t>Indexer Scan
still O(L²) in prefill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509760" y="2148840"/>
            <a:ext cx="0" cy="36576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509760" y="3474720"/>
            <a:ext cx="0" cy="36576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Related: DeepSeek Sparse Attention / HISA / MISA / PIVOT / IndexCache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Background – DSA 把系统瓶颈推向 Indexer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155448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111111"/>
                </a:solidFill>
                <a:latin typeface="Microsoft YaHei"/>
              </a:rPr>
              <a:t>Query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40280" y="2194560"/>
            <a:ext cx="502920" cy="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0" y="1645920"/>
            <a:ext cx="2377440" cy="1097280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C00000"/>
                </a:solidFill>
                <a:latin typeface="Microsoft YaHei"/>
              </a:rPr>
              <a:t>Lightning Indexer
Full-prefix scoring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66360" y="2194560"/>
            <a:ext cx="594360" cy="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760720" y="1828800"/>
            <a:ext cx="1645920" cy="731520"/>
          </a:xfrm>
          <a:prstGeom prst="roundRect">
            <a:avLst/>
          </a:prstGeom>
          <a:solidFill>
            <a:srgbClr val="FFF5E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Top-k = 2048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52360" y="2194560"/>
            <a:ext cx="594360" cy="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046720" y="1828800"/>
            <a:ext cx="1828800" cy="731520"/>
          </a:xfrm>
          <a:prstGeom prst="roundRect">
            <a:avLst/>
          </a:prstGeom>
          <a:solidFill>
            <a:srgbClr val="EAF3E5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111111"/>
                </a:solidFill>
                <a:latin typeface="Microsoft YaHei"/>
              </a:rPr>
              <a:t>Sparse MLA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921240" y="2194560"/>
            <a:ext cx="502920" cy="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424160" y="1828800"/>
            <a:ext cx="109728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078992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11111"/>
                </a:solidFill>
                <a:latin typeface="STKaiti"/>
              </a:defRPr>
            </a:pPr>
            <a:r>
              <a:t>●  DeepSeek-V3.2 reference indexer：64 heads × 128-d indexing representation，Top-k=2048。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11111"/>
                </a:solidFill>
                <a:latin typeface="STKaiti"/>
              </a:defRPr>
            </a:pPr>
            <a:r>
              <a:t>●  HISA 等最新工作说明：hierarchical indexer 已经有效，但 coarse stage 仍主要在完整 feature space 上计算。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11111"/>
                </a:solidFill>
                <a:latin typeface="STKaiti"/>
              </a:defRPr>
            </a:pPr>
            <a:r>
              <a:t>●  核心问题：能否同时减少“看多少 token”和“每个 token 看多少维度”？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Sources: DeepSeek-V3.2-Exp reference implementation; HISA (arXiv:2603.28458).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Observation – 将直觉变成三个可验证假设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6616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0">
                <a:solidFill>
                  <a:srgbClr val="111111"/>
                </a:solidFill>
                <a:latin typeface="Microsoft YaHei"/>
              </a:rPr>
              <a:t>H1  Position Skew
Top-k token 是否主要集中于近邻，
同时保留少量关键远邻？
→ 决定 near / far 是否值得异构表示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15968" y="1417320"/>
            <a:ext cx="356616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0">
                <a:solidFill>
                  <a:srgbClr val="111111"/>
                </a:solidFill>
                <a:latin typeface="Microsoft YaHei"/>
              </a:rPr>
              <a:t>H2  Feature Redundancy
128-d DSA score 是否存在可利用的
feature/subspace 冗余？
→ 决定 selected-dim coarse 是否可行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91856" y="1417320"/>
            <a:ext cx="356616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0">
                <a:solidFill>
                  <a:srgbClr val="111111"/>
                </a:solidFill>
                <a:latin typeface="Microsoft YaHei"/>
              </a:rPr>
              <a:t>H3  Hardware Skew
coarse regular 与 refine irregular
是否适合不同 GPU execution path？
→ 决定 TC/CC co-design 是否有收益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5166360"/>
            <a:ext cx="6675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00000"/>
                </a:solidFill>
                <a:latin typeface="Microsoft YaHei"/>
              </a:rPr>
              <a:t>先验证 observation，再决定算法和 kernel。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These are hypotheses to be validated on real DSA traces; not claimed as universal facts yet.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Related Work – 2024–2026 Indexer 研究版图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212080" cy="1828800"/>
          </a:xfrm>
          <a:prstGeom prst="roundRect">
            <a:avLst/>
          </a:prstGeom>
          <a:solidFill>
            <a:srgbClr val="F8F8F8"/>
          </a:solidFill>
          <a:ln w="1587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0">
                <a:solidFill>
                  <a:srgbClr val="111111"/>
                </a:solidFill>
                <a:latin typeface="Microsoft YaHei"/>
              </a:rPr>
              <a:t>Feature / Proxy
Quest · Loki · PQCache
cheap proxy / low-rank / compressed retrieval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25880"/>
            <a:ext cx="5212080" cy="1828800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0">
                <a:solidFill>
                  <a:srgbClr val="111111"/>
                </a:solidFill>
                <a:latin typeface="Microsoft YaHei"/>
              </a:rPr>
              <a:t>Hierarchy / Token
HISA · Double-P · NSA
block / cluster coarse → token refine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74720"/>
            <a:ext cx="5212080" cy="1828800"/>
          </a:xfrm>
          <a:prstGeom prst="roundRect">
            <a:avLst/>
          </a:prstGeom>
          <a:solidFill>
            <a:srgbClr val="F8F8F8"/>
          </a:solidFill>
          <a:ln w="1587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0">
                <a:solidFill>
                  <a:srgbClr val="111111"/>
                </a:solidFill>
                <a:latin typeface="Microsoft YaHei"/>
              </a:rPr>
              <a:t>Reuse / Routing
MISA · PIVOT · IndexCache
head / query / layer axis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474720"/>
            <a:ext cx="5212080" cy="1828800"/>
          </a:xfrm>
          <a:prstGeom prst="roundRect">
            <a:avLst/>
          </a:prstGeom>
          <a:solidFill>
            <a:srgbClr val="F8F8F8"/>
          </a:solidFill>
          <a:ln w="1587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0">
                <a:solidFill>
                  <a:srgbClr val="111111"/>
                </a:solidFill>
                <a:latin typeface="Microsoft YaHei"/>
              </a:rPr>
              <a:t>Kernel / Top-k
DeepGEMM · DeepSelect · Libra
scoring / top-k / heterogeneous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Potential Gap: DSA-specific feature/subspace axis + distance-aware hierarchy + heterogeneous kernel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Quest’24; Loki’24; ClusterKV’24; NSA’25; Libra’25; HISA/MISA/IndexCache/PIVOT’26.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Research Questions – 论文主线不应只是 “two-level”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8136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111111"/>
                </a:solidFill>
                <a:latin typeface="STKaiti"/>
              </a:defRPr>
            </a:pPr>
            <a:r>
              <a:t>●  RQ1：能否用 DSA-specific 的 selected subspace 做 Stage-1 coarse scoring，在显著减少 HBM read / FLOPs 的同时保持 ≥99% candidate recall？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111111"/>
                </a:solidFill>
                <a:latin typeface="STKaiti"/>
              </a:defRPr>
            </a:pPr>
            <a:r>
              <a:t>●  RQ2：near token 与 far token 是否应采用不同 representative（local avg / remote cluster），并通过统一 token-level exact refinement 恢复精度？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111111"/>
                </a:solidFill>
                <a:latin typeface="STKaiti"/>
              </a:defRPr>
            </a:pPr>
            <a:r>
              <a:t>●  RQ3：能否将 regular coarse work 与 irregular refine/top-k 分别映射到 Tensor Core / CUDA Core，并通过融合与流水化获得端到端收益？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394960"/>
            <a:ext cx="8595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00000"/>
                </a:solidFill>
                <a:latin typeface="Microsoft YaHei"/>
              </a:rPr>
              <a:t>核心 claim：减少 Feature Bytes × Candidate Tokens × Execution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Overall Workflow – Proposed Two-Level Indexer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057400"/>
            <a:ext cx="132588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900" b="1">
                <a:solidFill>
                  <a:srgbClr val="111111"/>
                </a:solidFill>
                <a:latin typeface="Microsoft YaHei"/>
              </a:rPr>
              <a:t>Query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74519" y="2423160"/>
            <a:ext cx="411481" cy="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0" y="1417320"/>
            <a:ext cx="2286000" cy="914400"/>
          </a:xfrm>
          <a:prstGeom prst="roundRect">
            <a:avLst/>
          </a:prstGeom>
          <a:solidFill>
            <a:srgbClr val="FFF5F5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Near Region
local block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788920"/>
            <a:ext cx="2286000" cy="914400"/>
          </a:xfrm>
          <a:prstGeom prst="roundRect">
            <a:avLst/>
          </a:prstGeom>
          <a:solidFill>
            <a:srgbClr val="EEF3FB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Far Region
semantic cluster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17720" y="1874519"/>
            <a:ext cx="502920" cy="548641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617720" y="2423160"/>
            <a:ext cx="502920" cy="82296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1920240"/>
            <a:ext cx="2148840" cy="1005840"/>
          </a:xfrm>
          <a:prstGeom prst="roundRect">
            <a:avLst/>
          </a:prstGeom>
          <a:solidFill>
            <a:srgbClr val="FFF3E8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Stage-1 Coarse
selected subspace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0" y="2423160"/>
            <a:ext cx="457200" cy="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0" y="1920240"/>
            <a:ext cx="1554480" cy="10058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Candidate
Union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72600" y="2423160"/>
            <a:ext cx="411480" cy="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84080" y="1920240"/>
            <a:ext cx="1828800" cy="1005840"/>
          </a:xfrm>
          <a:prstGeom prst="roundRect">
            <a:avLst/>
          </a:prstGeom>
          <a:solidFill>
            <a:srgbClr val="EAF3E5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Stage-2 Fine
full 128-d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98480" y="2971800"/>
            <a:ext cx="0" cy="68580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46920" y="3657600"/>
            <a:ext cx="210312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Top-k → Sparse MLA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877824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111111"/>
                </a:solidFill>
                <a:latin typeface="STKaiti"/>
              </a:defRPr>
            </a:pPr>
            <a:r>
              <a:t>●  Stage-1 同时削减 feature dimensions 与 candidate tokens。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111111"/>
                </a:solidFill>
                <a:latin typeface="STKaiti"/>
              </a:defRPr>
            </a:pPr>
            <a:r>
              <a:t>●  Stage-2 只对候选做原始 DSA score refinement，保持 drop-in 接口。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111111"/>
                </a:solidFill>
                <a:latin typeface="STKaiti"/>
              </a:defRPr>
            </a:pPr>
            <a:r>
              <a:t>●  目标：accuracy-efficiency Pareto 优于 strongest hierarchical baseline。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Framework: hierarchical coarse→fine; novelty sought in subspace + distance + kernel co-design.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Innovation A – Subspace-Preserving Coarse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666"/>
                </a:solidFill>
                <a:latin typeface="Microsoft YaHei"/>
              </a:rPr>
              <a:t>Current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920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4472C4"/>
                </a:solidFill>
                <a:latin typeface="Microsoft YaHei"/>
              </a:rPr>
              <a:t>RoPE 64d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691640"/>
            <a:ext cx="1920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C00000"/>
                </a:solidFill>
                <a:latin typeface="Microsoft YaHei"/>
              </a:rPr>
              <a:t>noPE 64d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2423160"/>
            <a:ext cx="0" cy="36576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600200" y="2788920"/>
            <a:ext cx="2148840" cy="6858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H128 rotation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3520440"/>
            <a:ext cx="0" cy="36576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508760" y="3886200"/>
            <a:ext cx="2377440" cy="749808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C00000"/>
                </a:solidFill>
                <a:latin typeface="Microsoft YaHei"/>
              </a:rPr>
              <a:t>mixed 128d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2344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666"/>
                </a:solidFill>
                <a:latin typeface="Microsoft YaHei"/>
              </a:rPr>
              <a:t>Proposed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691640"/>
            <a:ext cx="1920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4472C4"/>
                </a:solidFill>
                <a:latin typeface="Microsoft YaHei"/>
              </a:rPr>
              <a:t>RoPE 64d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691640"/>
            <a:ext cx="1920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C00000"/>
                </a:solidFill>
                <a:latin typeface="Microsoft YaHei"/>
              </a:rPr>
              <a:t>noPE 64d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2423160"/>
            <a:ext cx="0" cy="36576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21040" y="2423160"/>
            <a:ext cx="0" cy="36576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12080" y="2788920"/>
            <a:ext cx="1645920" cy="6858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H64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788920"/>
            <a:ext cx="1645920" cy="6858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H64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3520440"/>
            <a:ext cx="0" cy="36576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21040" y="3520440"/>
            <a:ext cx="0" cy="36576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937760" y="3886200"/>
            <a:ext cx="2194560" cy="749808"/>
          </a:xfrm>
          <a:prstGeom prst="roundRect">
            <a:avLst/>
          </a:prstGeom>
          <a:solidFill>
            <a:srgbClr val="EAF3E5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Full refine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886200"/>
            <a:ext cx="2560320" cy="749808"/>
          </a:xfrm>
          <a:prstGeom prst="roundRect">
            <a:avLst/>
          </a:prstGeom>
          <a:solidFill>
            <a:srgbClr val="FFF3E8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Coarse-only load
32/48/64d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1600200"/>
            <a:ext cx="196596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111111"/>
                </a:solidFill>
                <a:latin typeface="STKaiti"/>
              </a:defRPr>
            </a:pPr>
            <a:r>
              <a:t>●  关键：不宣称“总 cache 减半”，而是减少 Stage-1 memory traffic。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111111"/>
                </a:solidFill>
                <a:latin typeface="STKaiti"/>
              </a:defRPr>
            </a:pPr>
            <a:r>
              <a:t>●  扫描 d′∈{32,48,64,96,128}，并统计 overall / remote / worst-layer recall。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Motivation: DeepSeek-V3.2 index representation mixes RoPE/noPE before quantized cache; proposed layout must preserve accessible subspaces.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Innovation A – Expected Trade-off Template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8280" y="914400"/>
            <a:ext cx="2514600" cy="320040"/>
          </a:xfrm>
          <a:prstGeom prst="roundRect">
            <a:avLst/>
          </a:prstGeom>
          <a:solidFill>
            <a:srgbClr val="FBE5E5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00000"/>
                </a:solidFill>
                <a:latin typeface="Microsoft YaHei"/>
              </a:rPr>
              <a:t>Expected / NOT measured</a:t>
            </a:r>
          </a:p>
        </p:txBody>
      </p:sp>
      <p:pic>
        <p:nvPicPr>
          <p:cNvPr id="4" name="Picture 3" descr="fig_dimension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7498079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5320" y="1554480"/>
            <a:ext cx="320040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111111"/>
                </a:solidFill>
                <a:latin typeface="STKaiti"/>
              </a:defRPr>
            </a:pPr>
            <a:r>
              <a:t>●  Survival：4× candidate 下 Recall@K ≥ 99.0%。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111111"/>
                </a:solidFill>
                <a:latin typeface="STKaiti"/>
              </a:defRPr>
            </a:pPr>
            <a:r>
              <a:t>●  Publishable target：Stage-1 HBM bytes ↓≈45%，且 remote recall 不出现系统性崩塌。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111111"/>
                </a:solidFill>
                <a:latin typeface="STKaiti"/>
              </a:defRPr>
            </a:pPr>
            <a:r>
              <a:t>●  若 fixed subspace 不稳 → adaptive / query-aware dimension selection。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Synthetic placeholder only. Replace with real DSA trace replay: candidate recall, remote recall, HBM bytes, worst-layer P5.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Innovation B – Local Avg + Remote Cluster Hybrid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666666"/>
                </a:solidFill>
                <a:latin typeface="Microsoft YaHei"/>
              </a:rPr>
              <a:t>Far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2588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700" b="1">
                <a:solidFill>
                  <a:srgbClr val="666666"/>
                </a:solidFill>
                <a:latin typeface="Microsoft YaHei"/>
              </a:rPr>
              <a:t>Near query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148840"/>
            <a:ext cx="9966960" cy="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423160"/>
            <a:ext cx="2834640" cy="960120"/>
          </a:xfrm>
          <a:prstGeom prst="roundRect">
            <a:avLst/>
          </a:prstGeom>
          <a:solidFill>
            <a:srgbClr val="EEF3FB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Far
semantic clusters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423160"/>
            <a:ext cx="2834640" cy="9601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Mid
block mean / mean+std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423160"/>
            <a:ext cx="2834640" cy="960120"/>
          </a:xfrm>
          <a:prstGeom prst="roundRect">
            <a:avLst/>
          </a:prstGeom>
          <a:solidFill>
            <a:srgbClr val="FFF5F5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Near
small block / exact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3474720"/>
            <a:ext cx="2743200" cy="68580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15000" y="3474720"/>
            <a:ext cx="0" cy="54864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355080" y="3474720"/>
            <a:ext cx="2743200" cy="68580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4069080"/>
            <a:ext cx="2286000" cy="914400"/>
          </a:xfrm>
          <a:prstGeom prst="roundRect">
            <a:avLst/>
          </a:prstGeom>
          <a:solidFill>
            <a:srgbClr val="FFF3E8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Candidate Budget
C = Cnear + Cfar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5029200"/>
            <a:ext cx="0" cy="36576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34840" y="5394960"/>
            <a:ext cx="2560320" cy="713232"/>
          </a:xfrm>
          <a:prstGeom prst="roundRect">
            <a:avLst/>
          </a:prstGeom>
          <a:solidFill>
            <a:srgbClr val="EAF3E5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Full DSA token refine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023360"/>
            <a:ext cx="374903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C00000"/>
                </a:solidFill>
                <a:latin typeface="Microsoft YaHei"/>
              </a:rPr>
              <a:t>关键创新不是“near/far 不同方法”本身，而是 distance-conditioned representative + adaptive budget + exact token refinement。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Prior-art risk: ClusterKV / NSA / Double-P already cover clustering or hierarchical selection; novelty must be DSA-specific and measurable.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Innovation B – Expected Recall–Latency Pareto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8280" y="914400"/>
            <a:ext cx="2514600" cy="320040"/>
          </a:xfrm>
          <a:prstGeom prst="roundRect">
            <a:avLst/>
          </a:prstGeom>
          <a:solidFill>
            <a:srgbClr val="FBE5E5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00000"/>
                </a:solidFill>
                <a:latin typeface="Microsoft YaHei"/>
              </a:rPr>
              <a:t>Expected / NOT measured</a:t>
            </a:r>
          </a:p>
        </p:txBody>
      </p:sp>
      <p:pic>
        <p:nvPicPr>
          <p:cNvPr id="4" name="Picture 3" descr="fig_pareto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943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1371600"/>
            <a:ext cx="47548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Avg-only：低延迟，但远邻 rare hit 容易漏。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Cluster-only：召回改善，但 build/update 与 irregularity 较高。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Hybrid：目标是在相同 Recall 下形成 Pareto-front 改善。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No-Go：若相对 HISA-like mean pooling 无 ≥10% latency gain 或无 Recall 增益，则降级为辅助优化。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Synthetic placeholder only; real experiment must report distance-bucket recall and cluster maintenance overhead.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Innovation C – CUDA Core × Tensor Core Heterogeneous Indexer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3017520" cy="1005840"/>
          </a:xfrm>
          <a:prstGeom prst="roundRect">
            <a:avLst/>
          </a:prstGeom>
          <a:solidFill>
            <a:srgbClr val="FFF3E8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Regular coarse tiles
block / cluster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1280160"/>
            <a:ext cx="3017520" cy="1005840"/>
          </a:xfrm>
          <a:prstGeom prst="roundRect">
            <a:avLst/>
          </a:prstGeom>
          <a:solidFill>
            <a:srgbClr val="EEF3FB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Irregular candidates
gather / refine / Top-k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2331720"/>
            <a:ext cx="0" cy="54864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66960" y="2331720"/>
            <a:ext cx="0" cy="54864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97280" y="2880360"/>
            <a:ext cx="2194560" cy="914400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C00000"/>
                </a:solidFill>
                <a:latin typeface="Microsoft YaHei"/>
              </a:rPr>
              <a:t>Tensor Core lane
MMA / dense tiles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880360"/>
            <a:ext cx="2194560" cy="91440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4472C4"/>
                </a:solidFill>
                <a:latin typeface="Microsoft YaHei"/>
              </a:rPr>
              <a:t>CUDA Core lane
SIMT / selection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3337560"/>
            <a:ext cx="1417320" cy="73152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406640" y="3337560"/>
            <a:ext cx="1417320" cy="73152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3657600"/>
            <a:ext cx="2651760" cy="9144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Candidate Queue
shared-memory staging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4617720"/>
            <a:ext cx="0" cy="45720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5074920"/>
            <a:ext cx="301752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Runtime cost model
Prefill vs Decode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3657600" cy="1325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111111"/>
                </a:solidFill>
                <a:latin typeface="STKaiti"/>
              </a:defRPr>
            </a:pPr>
            <a:r>
              <a:t>●  Coarse → TC：规则、可 tile 化。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111111"/>
                </a:solidFill>
                <a:latin typeface="STKaiti"/>
              </a:defRPr>
            </a:pPr>
            <a:r>
              <a:t>●  Refine / Top-k → CC：不规则 gather 与 selection。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111111"/>
                </a:solidFill>
                <a:latin typeface="STKaiti"/>
              </a:defRPr>
            </a:pPr>
            <a:r>
              <a:t>●  可选：persistent kernel / warp specialization / fused top-k / double buffering。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System novelty requires indexer-specific mapping; TC+CC coexistence alone is not new (cf. Libra).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Innovation C – Expected Kernel Behavior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8280" y="914400"/>
            <a:ext cx="2514600" cy="320040"/>
          </a:xfrm>
          <a:prstGeom prst="roundRect">
            <a:avLst/>
          </a:prstGeom>
          <a:solidFill>
            <a:srgbClr val="FBE5E5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00000"/>
                </a:solidFill>
                <a:latin typeface="Microsoft YaHei"/>
              </a:rPr>
              <a:t>Expected / NOT measured</a:t>
            </a:r>
          </a:p>
        </p:txBody>
      </p:sp>
      <p:pic>
        <p:nvPicPr>
          <p:cNvPr id="4" name="Picture 3" descr="fig_kernel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394960" cy="3474720"/>
          </a:xfrm>
          <a:prstGeom prst="rect">
            <a:avLst/>
          </a:prstGeom>
        </p:spPr>
      </p:pic>
      <p:pic>
        <p:nvPicPr>
          <p:cNvPr id="5" name="Picture 4" descr="fig_utilization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39496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834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Microsoft YaHei"/>
              </a:rPr>
              <a:t>Kernel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892040"/>
            <a:ext cx="9144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Microsoft YaHei"/>
              </a:rPr>
              <a:t>strongest comparable baseline 上 ≥1.3× kernel speedup；packing/gather 不超过总 kernel 的 15%。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Synthetic placeholders. Replace with Nsight Compute: DRAM bytes, L2 hit, SM active, Tensor Core active, occupancy, stall reasons.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Index Build / Update – 在线增量索引必须足够便宜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74519"/>
            <a:ext cx="141732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New KV token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57400" y="2267712"/>
            <a:ext cx="457200" cy="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14600" y="1600200"/>
            <a:ext cx="2057400" cy="132588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Index projection
RoPE / noPE split
rotation / quant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17720" y="2267712"/>
            <a:ext cx="457200" cy="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74920" y="1600200"/>
            <a:ext cx="1965960" cy="1325880"/>
          </a:xfrm>
          <a:prstGeom prst="roundRect">
            <a:avLst/>
          </a:prstGeom>
          <a:solidFill>
            <a:srgbClr val="FFF5F5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Local summary
block stats update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86600" y="2267712"/>
            <a:ext cx="457200" cy="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43800" y="1600200"/>
            <a:ext cx="1965960" cy="1325880"/>
          </a:xfrm>
          <a:prstGeom prst="roundRect">
            <a:avLst/>
          </a:prstGeom>
          <a:solidFill>
            <a:srgbClr val="EEF3FB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Remote index
cluster assign / lazy merge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55480" y="2267712"/>
            <a:ext cx="457200" cy="0"/>
          </a:xfrm>
          <a:prstGeom prst="line">
            <a:avLst/>
          </a:prstGeom>
          <a:ln w="2540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012680" y="1874519"/>
            <a:ext cx="1554480" cy="777240"/>
          </a:xfrm>
          <a:prstGeom prst="roundRect">
            <a:avLst/>
          </a:prstGeom>
          <a:solidFill>
            <a:srgbClr val="EAF3E5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111111"/>
                </a:solidFill>
                <a:latin typeface="Microsoft YaHei"/>
              </a:rPr>
              <a:t>Queryable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1078992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目标：append/update 为 O(1) 或 amortized low-cost；避免频繁全局重聚类。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远邻 cluster 可采用 lazy maintenance；近邻 summary 直接滚动更新。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必须单独报告 build/update overhead，不能只看 query latency。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Experimental Setup – 模型 × 数据 × 长度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4747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0">
                <a:solidFill>
                  <a:srgbClr val="111111"/>
                </a:solidFill>
                <a:latin typeface="Microsoft YaHei"/>
              </a:rPr>
              <a:t>模型
开发：DSA trace replay / 单层 microbench
主实验：DeepSeek-V3.2
Cross-model：GLM-5.x（资源允许）
系统平台：A100 + H100/H200（如可用）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234440"/>
            <a:ext cx="34747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0">
                <a:solidFill>
                  <a:srgbClr val="111111"/>
                </a:solidFill>
                <a:latin typeface="Microsoft YaHei"/>
              </a:rPr>
              <a:t>数据 / Benchmark
LongBench / LongBench v2
RULER
Needle-in-a-Haystack / passkey
PG19 / WikiText perplexity
Synthetic locality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234440"/>
            <a:ext cx="34747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0">
                <a:solidFill>
                  <a:srgbClr val="111111"/>
                </a:solidFill>
                <a:latin typeface="Microsoft YaHei"/>
              </a:rPr>
              <a:t>长度 / Sweep
8K / 16K / 32K
64K / 128K
selected dim：1/16…1
Candidate：2×…8×
Block：64 / 128 / 256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ANN datasets can be used for coarse-retrieval stress tests, but cannot replace real DSA selector fidelity evaluation.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Metrics &amp; Success Criteria – 等精度再比速度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474720" cy="3566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0">
                <a:solidFill>
                  <a:srgbClr val="111111"/>
                </a:solidFill>
                <a:latin typeface="Microsoft YaHei"/>
              </a:rPr>
              <a:t>Selector Fidelity
• Candidate Recall@K
• Final Top-k IoU
• Remote Recall@K
• Worst-layer / P5 recall
• score-weighted recall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70832" y="1280160"/>
            <a:ext cx="3474720" cy="3566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0">
                <a:solidFill>
                  <a:srgbClr val="111111"/>
                </a:solidFill>
                <a:latin typeface="Microsoft YaHei"/>
              </a:rPr>
              <a:t>System
• Stage-1 / Stage-2 latency
• End-to-end TPOT / tok/s
• DRAM bytes / L2 hit
• TC / SM utilization
• index update overhead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1583" y="1280160"/>
            <a:ext cx="3474720" cy="3566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0">
                <a:solidFill>
                  <a:srgbClr val="111111"/>
                </a:solidFill>
                <a:latin typeface="Microsoft YaHei"/>
              </a:rPr>
              <a:t>Quality
• LongBench / RULER
• NIAH / passkey
• Perplexity
• Context-length robustness
• Cross-model generalization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5212080"/>
            <a:ext cx="9326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Primary operating point: Candidate Recall@K ≥ 99%   ·   LongBench relative drop ≤ 0.5%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Expected End-to-End Benefit – Placeholder Templates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8280" y="914400"/>
            <a:ext cx="2514600" cy="320040"/>
          </a:xfrm>
          <a:prstGeom prst="roundRect">
            <a:avLst/>
          </a:prstGeom>
          <a:solidFill>
            <a:srgbClr val="FBE5E5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00000"/>
                </a:solidFill>
                <a:latin typeface="Microsoft YaHei"/>
              </a:rPr>
              <a:t>Expected / NOT measured</a:t>
            </a:r>
          </a:p>
        </p:txBody>
      </p:sp>
      <p:pic>
        <p:nvPicPr>
          <p:cNvPr id="4" name="Picture 3" descr="fig_e2e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349240" cy="3474720"/>
          </a:xfrm>
          <a:prstGeom prst="rect">
            <a:avLst/>
          </a:prstGeom>
        </p:spPr>
      </p:pic>
      <p:pic>
        <p:nvPicPr>
          <p:cNvPr id="5" name="Picture 4" descr="fig_overhead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34924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5074920"/>
            <a:ext cx="10241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C00000"/>
                </a:solidFill>
                <a:latin typeface="Microsoft YaHei"/>
              </a:rPr>
              <a:t>目标不是“只赢 flat DSA”，而是在 matched fidelity 下超过 HISA / MISA / PIVOT 等 strongest available baseline。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Synthetic placeholders. End-to-end gains must be measured with a complete serving stack.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Ablation Plan – 哪个因素真正贡献收益？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97280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Selected-dim：full-dim vs 1/2, 1/4, 1/8, 1/16；random vs magnitude/variance vs learned vs query-aware。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Hybrid index：avg-only vs cluster-only vs avg+cluster；local window / remote budget 扫描；fixed vs adaptive budget。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Candidate：2× / 3× / 4× / 6× / 8×；单独统计 remote-token recall，而非只报 overall。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Kernel：TC-only / CC-only / naive sequential / fused / overlap；prefill 与 decode 分开。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Profiler：SM occupancy、Tensor Core active、DRAM bytes、L2 hit、stall reason、packing/gather time。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泛化：layer/head locality heatmap；不同 task / context / model 的稳定性。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Risks &amp; Go / No-Go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520440" cy="1828800"/>
          </a:xfrm>
          <a:prstGeom prst="roundRect">
            <a:avLst/>
          </a:prstGeom>
          <a:solidFill>
            <a:srgbClr val="FFF7F7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A – Subspace
GO: Recall ≥99%@4× candidate
HBM bytes ↓≥35%
NO-GO: Recall &lt;98%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280160"/>
            <a:ext cx="3520440" cy="1828800"/>
          </a:xfrm>
          <a:prstGeom prst="roundRect">
            <a:avLst/>
          </a:prstGeom>
          <a:solidFill>
            <a:srgbClr val="F7FA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B – Hybrid Index
GO: matched Recall 下
vs HISA-like latency ↓≥10%
NO-GO: no Pareto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80160"/>
            <a:ext cx="3520440" cy="1828800"/>
          </a:xfrm>
          <a:prstGeom prst="roundRect">
            <a:avLst/>
          </a:prstGeom>
          <a:solidFill>
            <a:srgbClr val="FFF9F3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111111"/>
                </a:solidFill>
                <a:latin typeface="Microsoft YaHei"/>
              </a:rPr>
              <a:t>C – Kernel
GO: vs strongest kernel ≥1.3×
packing &lt;15%
NO-GO: &lt;1.1×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60704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若 A 不成立：切换到 learned / query-aware projection，而不是硬做 noPE-only。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若 B 收益不稳定：降级为辅助优化，不作为主 contribution。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11111"/>
                </a:solidFill>
                <a:latin typeface="STKaiti"/>
              </a:defRPr>
            </a:pPr>
            <a:r>
              <a:t>●  若 C 在 decode small-M 上不划算：保留 CUDA-only decode path，只对 prefill 用 TC。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Timeline – 先证伪算法，再做复杂 Kernel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74519"/>
            <a:ext cx="17830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11111"/>
                </a:solidFill>
                <a:latin typeface="Microsoft YaHei"/>
              </a:rPr>
              <a:t>M1
Trace &amp; Observation
2–3周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60320" y="2852928"/>
            <a:ext cx="32004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71800" y="1874519"/>
            <a:ext cx="17830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11111"/>
                </a:solidFill>
                <a:latin typeface="Microsoft YaHei"/>
              </a:rPr>
              <a:t>M2
Subspace Prototype
3–4周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00600" y="2852928"/>
            <a:ext cx="32004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1874519"/>
            <a:ext cx="17830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11111"/>
                </a:solidFill>
                <a:latin typeface="Microsoft YaHei"/>
              </a:rPr>
              <a:t>M3
Hybrid Index
3–4周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40880" y="2852928"/>
            <a:ext cx="320040" cy="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52360" y="1874519"/>
            <a:ext cx="17830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11111"/>
                </a:solidFill>
                <a:latin typeface="Microsoft YaHei"/>
              </a:rPr>
              <a:t>M4
GPU Co-design
4–6周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81160" y="2852928"/>
            <a:ext cx="320040" cy="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92640" y="1874519"/>
            <a:ext cx="178308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11111"/>
                </a:solidFill>
                <a:latin typeface="Microsoft YaHei"/>
              </a:rPr>
              <a:t>M5
Full Eval &amp; Paper
3–4周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663440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C00000"/>
                </a:solidFill>
                <a:latin typeface="Microsoft YaHei"/>
              </a:rPr>
              <a:t>M1 不通过，不进入复杂 TC/CC kernel 开发。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A0001"/>
                </a:solidFill>
                <a:latin typeface="Microsoft YaHei"/>
              </a:rPr>
              <a:t>References &amp; Placeholder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434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111111"/>
                </a:solidFill>
                <a:latin typeface="STKaiti"/>
              </a:defRPr>
            </a:pPr>
            <a:r>
              <a:t>●  Quest: Query-Aware Sparsity for Efficient Long-Context LLM Inference (2024) · arXiv:2406.10774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111111"/>
                </a:solidFill>
                <a:latin typeface="STKaiti"/>
              </a:defRPr>
            </a:pPr>
            <a:r>
              <a:t>●  Loki: Low-Rank Keys for Efficient Sparse Attention (2024) · arXiv:2406.02542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111111"/>
                </a:solidFill>
                <a:latin typeface="STKaiti"/>
              </a:defRPr>
            </a:pPr>
            <a:r>
              <a:t>●  ClusterKV (2024) · arXiv:2412.03213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111111"/>
                </a:solidFill>
                <a:latin typeface="STKaiti"/>
              </a:defRPr>
            </a:pPr>
            <a:r>
              <a:t>●  Native Sparse Attention (2025) · arXiv:2502.11089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111111"/>
                </a:solidFill>
                <a:latin typeface="STKaiti"/>
              </a:defRPr>
            </a:pPr>
            <a:r>
              <a:t>●  Libra: GPU Heterogeneity for Sparse Matrix Multiplication (2025) · arXiv:2506.22714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111111"/>
                </a:solidFill>
                <a:latin typeface="STKaiti"/>
              </a:defRPr>
            </a:pPr>
            <a:r>
              <a:t>●  HISA (2026) · arXiv:2603.28458 · code: MuLabPKU/TransArch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111111"/>
                </a:solidFill>
                <a:latin typeface="STKaiti"/>
              </a:defRPr>
            </a:pPr>
            <a:r>
              <a:t>●  MISA (2026) · arXiv:2605.07363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111111"/>
                </a:solidFill>
                <a:latin typeface="STKaiti"/>
              </a:defRPr>
            </a:pPr>
            <a:r>
              <a:t>●  IndexCache (2026) · arXiv:2603.12201 · code: THUDM/IndexCache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111111"/>
                </a:solidFill>
                <a:latin typeface="STKaiti"/>
              </a:defRPr>
            </a:pPr>
            <a:r>
              <a:t>●  PIVOT (2026) · arXiv:2607.24593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111111"/>
                </a:solidFill>
                <a:latin typeface="STKaiti"/>
              </a:defRPr>
            </a:pPr>
            <a:r>
              <a:t>●  DeepSeek-V3.2-Exp / DeepGEMM / DeepSelect official GitHub repositories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8756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Microsoft YaHei"/>
              </a:rPr>
              <a:t>Important: Slides 9 / 11 / 13 / 17 contain synthetic “Expected / NOT measured” data only. Replace them with real measurements before any formal paper or defense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77777"/>
                </a:solidFill>
                <a:latin typeface="Microsoft YaHei"/>
              </a:rPr>
              <a:t>Deck style adapted from the user-provided CuNeS 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77777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