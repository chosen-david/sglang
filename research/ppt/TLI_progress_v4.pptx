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332720" cy="2560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000" b="1">
                <a:solidFill>
                  <a:srgbClr val="2F6F9F"/>
                </a:solidFill>
              </a:rPr>
              <a:t>TLI: Two-Level Indexer</a:t>
            </a:r>
          </a:p>
          <a:p>
            <a:pPr algn="ctr"/>
            <a:r>
              <a:rPr sz="1800">
                <a:solidFill>
                  <a:srgbClr val="222222"/>
                </a:solidFill>
              </a:rPr>
              <a:t>Training-free 稀疏注意力索引器：A 子空间 + B' 分区预算 + D' 层跳过</a:t>
            </a:r>
          </a:p>
          <a:p>
            <a:pPr algn="ctr"/>
            <a:r>
              <a:rPr sz="1300">
                <a:solidFill>
                  <a:srgbClr val="555555"/>
                </a:solidFill>
              </a:rPr>
              <a:t>进展汇报 v4 ｜ Qwen3-8B/32B 真实权重 × 真实 trace × 2×H20 ｜ 2026-09-25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2F6F9F"/>
                </a:solidFill>
              </a:rPr>
              <a:t>论文定位与贡献</a:t>
            </a:r>
          </a:p>
          <a:p>
            <a:r>
              <a:rPr sz="1300">
                <a:solidFill>
                  <a:srgbClr val="555555"/>
                </a:solidFill>
              </a:rPr>
              <a:t>三个算法创新点（全部 Go 且边界已画出）+ 一个系统贡献（sglang 全集成）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67665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50">
                <a:solidFill>
                  <a:srgbClr val="2F6F9F"/>
                </a:solidFill>
              </a:rPr>
              <a:t>• A 位置稳定子空间粗筛：L1 块 min/max 只在低频尾维计算 → 维度压缩边界已实测（M6）</a:t>
            </a:r>
          </a:p>
          <a:p>
            <a:pPr>
              <a:spcAft>
                <a:spcPts val="600"/>
              </a:spcAft>
            </a:pPr>
            <a:r>
              <a:rPr sz="1350">
                <a:solidFill>
                  <a:srgbClr val="222222"/>
                </a:solidFill>
              </a:rPr>
              <a:t>• 8B/32B 双规模验证：机制存在、强度递减（诚实泛化结论）</a:t>
            </a:r>
          </a:p>
          <a:p>
            <a:pPr>
              <a:spcAft>
                <a:spcPts val="600"/>
              </a:spcAft>
            </a:pPr>
            <a:r>
              <a:rPr sz="1350">
                <a:solidFill>
                  <a:srgbClr val="3A7D44"/>
                </a:solidFill>
              </a:rPr>
              <a:t>• B' far/near 分区 L2 预算：防远端被近端挤出（E4c 重定位后的正确形态）</a:t>
            </a:r>
          </a:p>
          <a:p>
            <a:pPr>
              <a:spcAft>
                <a:spcPts val="600"/>
              </a:spcAft>
            </a:pPr>
            <a:r>
              <a:rPr sz="1350">
                <a:solidFill>
                  <a:srgbClr val="222222"/>
                </a:solidFill>
              </a:rPr>
              <a:t>• far-heavy 层反超 TIA；far_tokens 128–256 即饱和</a:t>
            </a:r>
          </a:p>
          <a:p>
            <a:pPr>
              <a:spcAft>
                <a:spcPts val="600"/>
              </a:spcAft>
            </a:pPr>
            <a:r>
              <a:rPr sz="1350">
                <a:solidFill>
                  <a:srgbClr val="C1443C"/>
                </a:solidFill>
              </a:rPr>
              <a:t>• D' 离线校准层跳过：跳 13/36（32B 41/64）层，far 质量损失 &lt;0.3%</a:t>
            </a:r>
          </a:p>
          <a:p>
            <a:pPr>
              <a:spcAft>
                <a:spcPts val="600"/>
              </a:spcAft>
            </a:pPr>
            <a:r>
              <a:rPr sz="1350">
                <a:solidFill>
                  <a:srgbClr val="222222"/>
                </a:solidFill>
              </a:rPr>
              <a:t>• gate 设计经两代模型验证，判据失败模式入 negative results</a:t>
            </a:r>
          </a:p>
          <a:p>
            <a:pPr>
              <a:spcAft>
                <a:spcPts val="600"/>
              </a:spcAft>
            </a:pPr>
            <a:r>
              <a:rPr sz="1350">
                <a:solidFill>
                  <a:srgbClr val="2F6F9F"/>
                </a:solidFill>
              </a:rPr>
              <a:t>• S 系统贡献：sglang 全链路原型→生产级（M3–M7），decode 6.6× + prefill 2.1× + 4bit 存储</a:t>
            </a:r>
          </a:p>
          <a:p>
            <a:pPr>
              <a:spcAft>
                <a:spcPts val="600"/>
              </a:spcAft>
            </a:pPr>
            <a:r>
              <a:rPr sz="1350">
                <a:solidFill>
                  <a:srgbClr val="222222"/>
                </a:solidFill>
              </a:rPr>
              <a:t>• 对拍文化：replay 逐位 0.00e+00、e2e 逐字一致、集合 32/32 一致</a:t>
            </a:r>
          </a:p>
          <a:p>
            <a:pPr>
              <a:spcAft>
                <a:spcPts val="600"/>
              </a:spcAft>
            </a:pPr>
            <a:r>
              <a:rPr sz="1350">
                <a:solidFill>
                  <a:srgbClr val="222222"/>
                </a:solidFill>
              </a:rPr>
              <a:t>• Negative results 护城河：聚类代表/在线信号/跨层复用/维度可压性边界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863840" y="1463040"/>
            <a:ext cx="3840480" cy="1371600"/>
          </a:xfrm>
          <a:prstGeom prst="roundRect">
            <a:avLst/>
          </a:prstGeom>
          <a:solidFill>
            <a:srgbClr val="EFF3F8"/>
          </a:solidFill>
          <a:ln w="19050">
            <a:solidFill>
              <a:srgbClr val="2F6F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2F6F9F"/>
                </a:solidFill>
              </a:rPr>
              <a:t>2.57×</a:t>
            </a:r>
          </a:p>
          <a:p>
            <a:pPr algn="ctr"/>
            <a:r>
              <a:rPr sz="1100">
                <a:solidFill>
                  <a:srgbClr val="555555"/>
                </a:solidFill>
              </a:rPr>
              <a:t>索引 FLOP 全层平均（E8-1）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863840" y="3017520"/>
            <a:ext cx="3840480" cy="1371600"/>
          </a:xfrm>
          <a:prstGeom prst="roundRect">
            <a:avLst/>
          </a:prstGeom>
          <a:solidFill>
            <a:srgbClr val="EFF3F8"/>
          </a:solidFill>
          <a:ln w="19050">
            <a:solidFill>
              <a:srgbClr val="C144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C1443C"/>
                </a:solidFill>
              </a:rPr>
              <a:t>6.6×</a:t>
            </a:r>
          </a:p>
          <a:p>
            <a:pPr algn="ctr"/>
            <a:r>
              <a:rPr sz="1100">
                <a:solidFill>
                  <a:srgbClr val="555555"/>
                </a:solidFill>
              </a:rPr>
              <a:t>sglang decode（M3 原型→M5，bs=32）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863840" y="4572000"/>
            <a:ext cx="3840480" cy="1371600"/>
          </a:xfrm>
          <a:prstGeom prst="roundRect">
            <a:avLst/>
          </a:prstGeom>
          <a:solidFill>
            <a:srgbClr val="EFF3F8"/>
          </a:solidFill>
          <a:ln w="19050">
            <a:solidFill>
              <a:srgbClr val="3A7D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3A7D44"/>
                </a:solidFill>
              </a:rPr>
              <a:t>3.2×</a:t>
            </a:r>
          </a:p>
          <a:p>
            <a:pPr algn="ctr"/>
            <a:r>
              <a:rPr sz="1100">
                <a:solidFill>
                  <a:srgbClr val="555555"/>
                </a:solidFill>
              </a:rPr>
              <a:t>kq 存储压缩（M6 4bit，零漂移）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2F6F9F"/>
                </a:solidFill>
              </a:rPr>
              <a:t>动机：注意力的真实形态是三层分解（H1）</a:t>
            </a:r>
          </a:p>
          <a:p>
            <a:r>
              <a:rPr sz="1300">
                <a:solidFill>
                  <a:srgbClr val="555555"/>
                </a:solidFill>
              </a:rPr>
              <a:t>「近端集中」叙事不成立；评估口径升级——总 mass 被 sink 稀释，竞争区才是区分度</a:t>
            </a:r>
          </a:p>
        </p:txBody>
      </p:sp>
      <p:pic>
        <p:nvPicPr>
          <p:cNvPr id="3" name="Picture 2" descr="fig1_h1_decomposi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371600"/>
            <a:ext cx="7132320" cy="420401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138160" y="1554480"/>
            <a:ext cx="3657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50">
                <a:solidFill>
                  <a:srgbClr val="222222"/>
                </a:solidFill>
              </a:rPr>
              <a:t>• sink（前 64 tok）：0.37–0.71 质量大头</a:t>
            </a:r>
          </a:p>
          <a:p>
            <a:pPr>
              <a:spcAft>
                <a:spcPts val="600"/>
              </a:spcAft>
            </a:pPr>
            <a:r>
              <a:rPr sz="1250">
                <a:solidFill>
                  <a:srgbClr val="222222"/>
                </a:solidFill>
              </a:rPr>
              <a:t>• near（末 2048 tok）：0.16–0.29</a:t>
            </a:r>
          </a:p>
          <a:p>
            <a:pPr>
              <a:spcAft>
                <a:spcPts val="600"/>
              </a:spcAft>
            </a:pPr>
            <a:r>
              <a:rPr sz="1250">
                <a:solidFill>
                  <a:srgbClr val="222222"/>
                </a:solidFill>
              </a:rPr>
              <a:t>• far（中间区）：0.02–0.29，任务相关</a:t>
            </a:r>
          </a:p>
          <a:p>
            <a:pPr>
              <a:spcAft>
                <a:spcPts val="600"/>
              </a:spcAft>
            </a:pPr>
            <a:r>
              <a:rPr sz="1250">
                <a:solidFill>
                  <a:srgbClr val="C1443C"/>
                </a:solidFill>
              </a:rPr>
              <a:t>• 总 mass 口径陷阱：竞争区（去 sink+滑窗）仅占总 mass 0.515</a:t>
            </a:r>
          </a:p>
          <a:p>
            <a:pPr>
              <a:spcAft>
                <a:spcPts val="600"/>
              </a:spcAft>
            </a:pPr>
            <a:r>
              <a:rPr sz="1250">
                <a:solidFill>
                  <a:srgbClr val="222222"/>
                </a:solidFill>
              </a:rPr>
              <a:t>• → 论文质量口径改报剩余 mass coverage（0.953），区分度显著更高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2F6F9F"/>
                </a:solidFill>
              </a:rPr>
              <a:t>创新点 A：位置稳定子空间粗筛——探索已收敛，边界已画出</a:t>
            </a:r>
          </a:p>
          <a:p>
            <a:r>
              <a:rPr sz="1300">
                <a:solidFill>
                  <a:srgbClr val="555555"/>
                </a:solidFill>
              </a:rPr>
              <a:t>是什么：L1 只在 RoPE 低频尾维算 min/max 上界；探索：维度能压到哪、跨规模是否成立</a:t>
            </a:r>
          </a:p>
        </p:txBody>
      </p:sp>
      <p:pic>
        <p:nvPicPr>
          <p:cNvPr id="3" name="Picture 2" descr="fig2_e3_subspa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280160"/>
            <a:ext cx="6766560" cy="36271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772400" y="1463040"/>
            <a:ext cx="40233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>
                <a:solidFill>
                  <a:srgbClr val="3A7D44"/>
                </a:solidFill>
              </a:rPr>
              <a:t>• 8B（E3）：d'=32 recall 0.729 ≈ 全维 0.732；random/highfreq 崩溃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222222"/>
                </a:solidFill>
              </a:rPr>
              <a:t>• 32B 泛化：lowfreq32 0.66–0.87 ≈ full128（差 ≤0.08）＞ random ＞＞ hifreq——机制存在、强度递减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2F6F9F"/>
                </a:solidFill>
              </a:rPr>
              <a:t>• M6 新证据（维度压缩扫描，真实 trace）：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3A7D44"/>
                </a:solidFill>
              </a:rPr>
              <a:t>•   L1 粗筛 d'=32→16：质量逐位不变（选中块集 172→194 块，L2 精筛吸收）→ 可再省一半索引存储/流量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C1443C"/>
                </a:solidFill>
              </a:rPr>
              <a:t>•   L2 细筛 δ=16→8：cov剩 0.953→0.782（far-heavy 层最差 0.34）→ 不可压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222222"/>
                </a:solidFill>
              </a:rPr>
              <a:t>• 结论：两级索引维数压缩边界画在 L1/L2 之间——粗筛上界可粗，细筛分数必须精（论文可直接引用的边界结论）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5806440"/>
            <a:ext cx="3291840" cy="914400"/>
          </a:xfrm>
          <a:prstGeom prst="roundRect">
            <a:avLst/>
          </a:prstGeom>
          <a:solidFill>
            <a:srgbClr val="EFF3F8"/>
          </a:solidFill>
          <a:ln w="19050">
            <a:solidFill>
              <a:srgbClr val="3A7D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3A7D44"/>
                </a:solidFill>
              </a:rPr>
              <a:t>d'=16 免费</a:t>
            </a:r>
          </a:p>
          <a:p>
            <a:pPr algn="ctr"/>
            <a:r>
              <a:rPr sz="1100">
                <a:solidFill>
                  <a:srgbClr val="555555"/>
                </a:solidFill>
              </a:rPr>
              <a:t>L1 维度再减半（M6 实测）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5806440"/>
            <a:ext cx="3291840" cy="914400"/>
          </a:xfrm>
          <a:prstGeom prst="roundRect">
            <a:avLst/>
          </a:prstGeom>
          <a:solidFill>
            <a:srgbClr val="EFF3F8"/>
          </a:solidFill>
          <a:ln w="19050">
            <a:solidFill>
              <a:srgbClr val="C144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C1443C"/>
                </a:solidFill>
              </a:rPr>
              <a:t>δ=8 崩溃</a:t>
            </a:r>
          </a:p>
          <a:p>
            <a:pPr algn="ctr"/>
            <a:r>
              <a:rPr sz="1100">
                <a:solidFill>
                  <a:srgbClr val="555555"/>
                </a:solidFill>
              </a:rPr>
              <a:t>L2 维度不可压（M6 实测）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C1443C"/>
                </a:solidFill>
              </a:rPr>
              <a:t>创新点 B'：far/near 分区预算——重定位后的正确形态</a:t>
            </a:r>
          </a:p>
          <a:p>
            <a:r>
              <a:rPr sz="1300">
                <a:solidFill>
                  <a:srgbClr val="555555"/>
                </a:solidFill>
              </a:rPr>
              <a:t>是什么：远端独立 top-K2 池防挤出；探索：聚类代表（原方案）被严格预算口径否定</a:t>
            </a:r>
          </a:p>
        </p:txBody>
      </p:sp>
      <p:pic>
        <p:nvPicPr>
          <p:cNvPr id="3" name="Picture 2" descr="fig3_e4c_strict_budg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554480"/>
            <a:ext cx="7863840" cy="357880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778240" y="1645920"/>
            <a:ext cx="31089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150">
                <a:solidFill>
                  <a:srgbClr val="222222"/>
                </a:solidFill>
              </a:rPr>
              <a:t>• 原方案（聚类代表）：严格预算 + per-head 口径下</a:t>
            </a:r>
          </a:p>
          <a:p>
            <a:pPr>
              <a:spcAft>
                <a:spcPts val="600"/>
              </a:spcAft>
            </a:pPr>
            <a:r>
              <a:rPr sz="1150">
                <a:solidFill>
                  <a:srgbClr val="C1443C"/>
                </a:solidFill>
              </a:rPr>
              <a:t>•   km_blk 0.09–0.39（最差）/ km_tok 无一致优势</a:t>
            </a:r>
          </a:p>
          <a:p>
            <a:pPr>
              <a:spcAft>
                <a:spcPts val="600"/>
              </a:spcAft>
            </a:pPr>
            <a:r>
              <a:rPr sz="1150">
                <a:solidFill>
                  <a:srgbClr val="3A7D44"/>
                </a:solidFill>
              </a:rPr>
              <a:t>•   4bit token 级精筛 ≈ oracle 0.999（TIA 原生）</a:t>
            </a:r>
          </a:p>
          <a:p>
            <a:pPr>
              <a:spcAft>
                <a:spcPts val="600"/>
              </a:spcAft>
            </a:pPr>
            <a:r>
              <a:rPr sz="1150">
                <a:solidFill>
                  <a:srgbClr val="222222"/>
                </a:solidFill>
              </a:rPr>
              <a:t>• → B 重定位为分区预算（工程正确形态）</a:t>
            </a:r>
          </a:p>
          <a:p>
            <a:pPr>
              <a:spcAft>
                <a:spcPts val="600"/>
              </a:spcAft>
            </a:pPr>
            <a:r>
              <a:rPr sz="1150">
                <a:solidFill>
                  <a:srgbClr val="222222"/>
                </a:solidFill>
              </a:rPr>
              <a:t>• far_tokens 敏感性：128–256 饱和</a:t>
            </a:r>
          </a:p>
          <a:p>
            <a:pPr>
              <a:spcAft>
                <a:spcPts val="600"/>
              </a:spcAft>
            </a:pPr>
            <a:r>
              <a:rPr sz="1150">
                <a:solidFill>
                  <a:srgbClr val="222222"/>
                </a:solidFill>
              </a:rPr>
              <a:t>• far-heavy 层 TLI 反超 TIA（L05 +0.0068）</a:t>
            </a:r>
          </a:p>
          <a:p>
            <a:pPr>
              <a:spcAft>
                <a:spcPts val="600"/>
              </a:spcAft>
            </a:pPr>
            <a:r>
              <a:rPr sz="1150">
                <a:solidFill>
                  <a:srgbClr val="222222"/>
                </a:solidFill>
              </a:rPr>
              <a:t>• 聚类降级为消融 + negative result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2F6F9F"/>
                </a:solidFill>
              </a:rPr>
              <a:t>创新点 D'：离线校准层跳过——跨规模复验成立，gate 设计两代验证</a:t>
            </a:r>
          </a:p>
          <a:p>
            <a:r>
              <a:rPr sz="1300">
                <a:solidFill>
                  <a:srgbClr val="555555"/>
                </a:solidFill>
              </a:rPr>
              <a:t>是什么：far 质量低的层免远端检索（静态掩码）；探索：怎么 gate、跨模型是否泛化</a:t>
            </a:r>
          </a:p>
        </p:txBody>
      </p:sp>
      <p:pic>
        <p:nvPicPr>
          <p:cNvPr id="3" name="Picture 2" descr="fig4_e6_layer_ski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463040"/>
            <a:ext cx="6949440" cy="405707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138160" y="1645920"/>
            <a:ext cx="3657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>
                <a:solidFill>
                  <a:srgbClr val="222222"/>
                </a:solidFill>
              </a:rPr>
              <a:t>• 8B：跳 13/36 层，precision 0.92–1.00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3A7D44"/>
                </a:solidFill>
              </a:rPr>
              <a:t>• 32B 泛化更强：跳 41/64 层（64%），precision 0.993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222222"/>
                </a:solidFill>
              </a:rPr>
              <a:t>• far 层轮廓双峰跨模型同构（可跳层空间随深度增大）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C1443C"/>
                </a:solidFill>
              </a:rPr>
              <a:t>• gate 探索史（negative results 资产）：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222222"/>
                </a:solidFill>
              </a:rPr>
              <a:t>•   在线信号 corr≈0（E5）→ 必须离线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222222"/>
                </a:solidFill>
              </a:rPr>
              <a:t>•   far 总量判据两代模型均重叠 → 口径混淆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222222"/>
                </a:solidFill>
              </a:rPr>
              <a:t>•   真根因 = 校准集层轮廓与任务错位（corr 0.05–0.89）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222222"/>
                </a:solidFill>
              </a:rPr>
              <a:t>• → 最终形态：per-task 层轮廓校准（同长度同分布 trace）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2F6F9F"/>
                </a:solidFill>
              </a:rPr>
              <a:t>TLI 架构</a:t>
            </a:r>
          </a:p>
          <a:p>
            <a:r>
              <a:rPr sz="1300">
                <a:solidFill>
                  <a:srgbClr val="555555"/>
                </a:solidFill>
              </a:rPr>
              <a:t>A + B' + D' 数据流（全部继承 TIA 两级语义）+ sglang 系统栈</a:t>
            </a:r>
          </a:p>
        </p:txBody>
      </p:sp>
      <p:pic>
        <p:nvPicPr>
          <p:cNvPr id="3" name="Picture 2" descr="fig7_tli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280160"/>
            <a:ext cx="10789920" cy="5036599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3A7D44"/>
                </a:solidFill>
              </a:rPr>
              <a:t>系统贡献：sglang 全链路集成（M3–M7）——decode 6.6×，prefill 2.1×</a:t>
            </a:r>
          </a:p>
          <a:p>
            <a:r>
              <a:rPr sz="1300">
                <a:solidFill>
                  <a:srgbClr val="555555"/>
                </a:solidFill>
              </a:rPr>
              <a:t>叙事：M3 曲线暴露「原型→生产级」工程鸿沟 → 批量化→图化→4bit→prefill，每步对拍零漂移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69494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250" b="1">
                <a:solidFill>
                  <a:srgbClr val="2F6F9F"/>
                </a:solidFill>
                <a:latin typeface="Consolas"/>
              </a:rPr>
              <a:t>decode 阶梯                   bs=1      bs=8     bs=16     bs=32</a:t>
            </a:r>
          </a:p>
          <a:p>
            <a:pPr>
              <a:spcAft>
                <a:spcPts val="200"/>
              </a:spcAft>
            </a:pPr>
            <a:r>
              <a:rPr sz="1250" b="0">
                <a:solidFill>
                  <a:srgbClr val="222222"/>
                </a:solidFill>
                <a:latin typeface="Consolas"/>
              </a:rPr>
              <a:t>M3 原型                       51.4     369.7     666.4    1236.8</a:t>
            </a:r>
          </a:p>
          <a:p>
            <a:pPr>
              <a:spcAft>
                <a:spcPts val="200"/>
              </a:spcAft>
            </a:pPr>
            <a:r>
              <a:rPr sz="1250" b="0">
                <a:solidFill>
                  <a:srgbClr val="222222"/>
                </a:solidFill>
                <a:latin typeface="Consolas"/>
              </a:rPr>
              <a:t>M5 graph               17.7-36.8 70.3-75.587.5-115.2     188.6</a:t>
            </a:r>
          </a:p>
          <a:p>
            <a:pPr>
              <a:spcAft>
                <a:spcPts val="200"/>
              </a:spcAft>
            </a:pPr>
            <a:r>
              <a:rPr sz="1250" b="1">
                <a:solidFill>
                  <a:srgbClr val="C1443C"/>
                </a:solidFill>
                <a:latin typeface="Consolas"/>
              </a:rPr>
              <a:t>triton graph                 7.8      12.8      18.7      31.7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955279" y="1463040"/>
            <a:ext cx="3840480" cy="1051560"/>
          </a:xfrm>
          <a:prstGeom prst="roundRect">
            <a:avLst/>
          </a:prstGeom>
          <a:solidFill>
            <a:srgbClr val="EFF3F8"/>
          </a:solidFill>
          <a:ln w="19050">
            <a:solidFill>
              <a:srgbClr val="C144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C1443C"/>
                </a:solidFill>
              </a:rPr>
              <a:t>6.6×</a:t>
            </a:r>
          </a:p>
          <a:p>
            <a:pPr algn="ctr"/>
            <a:r>
              <a:rPr sz="1100">
                <a:solidFill>
                  <a:srgbClr val="555555"/>
                </a:solidFill>
              </a:rPr>
              <a:t>decode 累计（bs=32，tok/s 25.9→169.7）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955279" y="2651760"/>
            <a:ext cx="3840480" cy="1051560"/>
          </a:xfrm>
          <a:prstGeom prst="roundRect">
            <a:avLst/>
          </a:prstGeom>
          <a:solidFill>
            <a:srgbClr val="EFF3F8"/>
          </a:solidFill>
          <a:ln w="19050">
            <a:solidFill>
              <a:srgbClr val="2F6F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2F6F9F"/>
                </a:solidFill>
              </a:rPr>
              <a:t>2.08×</a:t>
            </a:r>
          </a:p>
          <a:p>
            <a:pPr algn="ctr"/>
            <a:r>
              <a:rPr sz="1100">
                <a:solidFill>
                  <a:srgbClr val="555555"/>
                </a:solidFill>
              </a:rPr>
              <a:t>prefill（select 快路径 5.2×@10K）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931920"/>
            <a:ext cx="111556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150">
                <a:solidFill>
                  <a:srgbClr val="222222"/>
                </a:solidFill>
              </a:rPr>
              <a:t>• M4 批量化：共享 index pool + 批量 select/增量（launch 数与 bs 无关）；线性项 38→5.2 ms/req</a:t>
            </a:r>
          </a:p>
          <a:p>
            <a:pPr>
              <a:spcAft>
                <a:spcPts val="600"/>
              </a:spcAft>
            </a:pPr>
            <a:r>
              <a:rPr sz="1150">
                <a:solidFill>
                  <a:srgbClr val="222222"/>
                </a:solidFill>
              </a:rPr>
              <a:t>• M5 CUDA graph：图内统一增量/稀疏路径零 host 同步（真 capture 通过）+ 短行 veto 回退；replay vs eager 逐位 0.00e+00</a:t>
            </a:r>
          </a:p>
          <a:p>
            <a:pPr>
              <a:spcAft>
                <a:spcPts val="600"/>
              </a:spcAft>
            </a:pPr>
            <a:r>
              <a:rPr sz="1150">
                <a:solidFill>
                  <a:srgbClr val="222222"/>
                </a:solidFill>
              </a:rPr>
              <a:t>• M6 kq 真 4bit：uint8+scale 三张量，128→40 B/token-head，重建≡量化（逐位零漂移）——S=131K 显存前提解锁</a:t>
            </a:r>
          </a:p>
          <a:p>
            <a:pPr>
              <a:spcAft>
                <a:spcPts val="600"/>
              </a:spcAft>
            </a:pPr>
            <a:r>
              <a:rPr sz="1150">
                <a:solidFill>
                  <a:srgbClr val="222222"/>
                </a:solidFill>
              </a:rPr>
              <a:t>• M7 prefill：归因修正（瓶颈是 select 而非 build）→ 池==因果区快路径；prefill 延迟随 S 亚线性（9.5→62.1 ms/层 @5K→130K）</a:t>
            </a:r>
          </a:p>
          <a:p>
            <a:pPr>
              <a:spcAft>
                <a:spcPts val="600"/>
              </a:spcAft>
            </a:pPr>
            <a:r>
              <a:rPr sz="1150">
                <a:solidFill>
                  <a:srgbClr val="C1443C"/>
                </a:solidFill>
              </a:rPr>
              <a:t>• 诚实口径：S=10K 档仍慢于 triton 全量——稀疏收益在长 S 的 HBM 流量（bs=32×131K 时 triton 需 ~620GB/步纯 HBM），S=131K 主表待 M8/H100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2F6F9F"/>
                </a:solidFill>
              </a:rPr>
              <a:t>索引开销与 fused kernel 原型（E8）</a:t>
            </a:r>
          </a:p>
          <a:p>
            <a:r>
              <a:rPr sz="1300">
                <a:solidFill>
                  <a:srgbClr val="555555"/>
                </a:solidFill>
              </a:rPr>
              <a:t>D' topk 截断到有效块数 = 真正兑现 L2 计算节省</a:t>
            </a:r>
          </a:p>
        </p:txBody>
      </p:sp>
      <p:pic>
        <p:nvPicPr>
          <p:cNvPr id="3" name="Picture 2" descr="fig5_e8_speedu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463040"/>
            <a:ext cx="10241280" cy="473027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5394960"/>
            <a:ext cx="10515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>
                <a:solidFill>
                  <a:srgbClr val="222222"/>
                </a:solidFill>
              </a:rPr>
              <a:t>• E8-1: 跳层 4.88× / 非跳层 1.27×（A 子空间贡献）/ 全层平均 2.57×；attention 主计算量不变（K2 固定）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222222"/>
                </a:solidFill>
              </a:rPr>
              <a:t>• E8-2: L1 fused 3.6×/1.6×（块 id 对拍一致）+ L2 级联 fused 1.63×（分区 topk 对拍 4096/4096）——完整两级仅 2 launches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2F6F9F"/>
                </a:solidFill>
              </a:rPr>
              <a:t>TLI vs TIA 逐层质量（E5b debug，hotpotqa）</a:t>
            </a:r>
          </a:p>
          <a:p>
            <a:r>
              <a:rPr sz="1300">
                <a:solidFill>
                  <a:srgbClr val="555555"/>
                </a:solidFill>
              </a:rPr>
              <a:t>全 36 层 diff &lt; 0.001；far-heavy 层反超（分区防挤出）</a:t>
            </a:r>
          </a:p>
        </p:txBody>
      </p:sp>
      <p:pic>
        <p:nvPicPr>
          <p:cNvPr id="3" name="Picture 2" descr="fig6_tli_vs_tia_lay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463040"/>
            <a:ext cx="9326880" cy="5000696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1371600" y="5669280"/>
            <a:ext cx="3291840" cy="914400"/>
          </a:xfrm>
          <a:prstGeom prst="roundRect">
            <a:avLst/>
          </a:prstGeom>
          <a:solidFill>
            <a:srgbClr val="EFF3F8"/>
          </a:solidFill>
          <a:ln w="19050">
            <a:solidFill>
              <a:srgbClr val="3A7D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3A7D44"/>
                </a:solidFill>
              </a:rPr>
              <a:t>36/36 层</a:t>
            </a:r>
          </a:p>
          <a:p>
            <a:pPr algn="ctr"/>
            <a:r>
              <a:rPr sz="1100">
                <a:solidFill>
                  <a:srgbClr val="555555"/>
                </a:solidFill>
              </a:rPr>
              <a:t>diff &lt; 0.001 vs TIA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0" y="5669280"/>
            <a:ext cx="3291840" cy="914400"/>
          </a:xfrm>
          <a:prstGeom prst="roundRect">
            <a:avLst/>
          </a:prstGeom>
          <a:solidFill>
            <a:srgbClr val="EFF3F8"/>
          </a:solidFill>
          <a:ln w="19050">
            <a:solidFill>
              <a:srgbClr val="2F6F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2F6F9F"/>
                </a:solidFill>
              </a:rPr>
              <a:t>+0.0068</a:t>
            </a:r>
          </a:p>
          <a:p>
            <a:pPr algn="ctr"/>
            <a:r>
              <a:rPr sz="1100">
                <a:solidFill>
                  <a:srgbClr val="555555"/>
                </a:solidFill>
              </a:rPr>
              <a:t>L05 反超 TIA（0.9997 vs 0.9929）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2F6F9F"/>
                </a:solidFill>
              </a:rPr>
              <a:t>E5b：LongBench 13 子集主表（已完成）</a:t>
            </a:r>
          </a:p>
          <a:p>
            <a:r>
              <a:rPr sz="1300">
                <a:solidFill>
                  <a:srgbClr val="555555"/>
                </a:solidFill>
              </a:rPr>
              <a:t>TLI −0.14 vs TIA / −0.44 vs FullKV，同时索引 FLOP 2.57×（E8-1）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34440"/>
            <a:ext cx="106984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250" b="1">
                <a:latin typeface="Consolas"/>
              </a:rPr>
              <a:t>task              FullKV   Quest     TIA     TWI     TLI</a:t>
            </a:r>
          </a:p>
          <a:p>
            <a:pPr>
              <a:spcAft>
                <a:spcPts val="200"/>
              </a:spcAft>
            </a:pPr>
            <a:r>
              <a:rPr sz="1250" b="0">
                <a:latin typeface="Consolas"/>
              </a:rPr>
              <a:t>hotpotqa           53.48   45.74   53.89   48.98   53.96</a:t>
            </a:r>
          </a:p>
          <a:p>
            <a:pPr>
              <a:spcAft>
                <a:spcPts val="200"/>
              </a:spcAft>
            </a:pPr>
            <a:r>
              <a:rPr sz="1250" b="0">
                <a:latin typeface="Consolas"/>
              </a:rPr>
              <a:t>2wikimqa           38.29   38.46   38.27   36.16   39.07</a:t>
            </a:r>
          </a:p>
          <a:p>
            <a:pPr>
              <a:spcAft>
                <a:spcPts val="200"/>
              </a:spcAft>
            </a:pPr>
            <a:r>
              <a:rPr sz="1250" b="0">
                <a:latin typeface="Consolas"/>
              </a:rPr>
              <a:t>musique            32.14   27.25   32.28   23.60   31.35</a:t>
            </a:r>
          </a:p>
          <a:p>
            <a:pPr>
              <a:spcAft>
                <a:spcPts val="200"/>
              </a:spcAft>
            </a:pPr>
            <a:r>
              <a:rPr sz="1250" b="0">
                <a:latin typeface="Consolas"/>
              </a:rPr>
              <a:t>passage_ret_en     100.0   98.50   99.50   98.50   100.0</a:t>
            </a:r>
          </a:p>
          <a:p>
            <a:pPr>
              <a:spcAft>
                <a:spcPts val="200"/>
              </a:spcAft>
            </a:pPr>
            <a:r>
              <a:rPr sz="1250" b="0">
                <a:latin typeface="Consolas"/>
              </a:rPr>
              <a:t>qasper             44.17   40.13   44.03   38.96   44.03</a:t>
            </a:r>
          </a:p>
          <a:p>
            <a:pPr>
              <a:spcAft>
                <a:spcPts val="200"/>
              </a:spcAft>
            </a:pPr>
            <a:r>
              <a:rPr sz="1250" b="0">
                <a:latin typeface="Consolas"/>
              </a:rPr>
              <a:t>multifieldqa_en    53.40   51.01   53.19   48.11   52.98</a:t>
            </a:r>
          </a:p>
          <a:p>
            <a:pPr>
              <a:spcAft>
                <a:spcPts val="200"/>
              </a:spcAft>
            </a:pPr>
            <a:r>
              <a:rPr sz="1250" b="0">
                <a:latin typeface="Consolas"/>
              </a:rPr>
              <a:t>gov_report         33.17   32.13   33.43   33.09   32.41</a:t>
            </a:r>
          </a:p>
          <a:p>
            <a:pPr>
              <a:spcAft>
                <a:spcPts val="200"/>
              </a:spcAft>
            </a:pPr>
            <a:r>
              <a:rPr sz="1250" b="0">
                <a:latin typeface="Consolas"/>
              </a:rPr>
              <a:t>qmsum              23.53   22.21   23.90   23.98   22.77</a:t>
            </a:r>
          </a:p>
          <a:p>
            <a:pPr>
              <a:spcAft>
                <a:spcPts val="200"/>
              </a:spcAft>
            </a:pPr>
            <a:r>
              <a:rPr sz="1250" b="0">
                <a:latin typeface="Consolas"/>
              </a:rPr>
              <a:t>multi_news         24.93   24.95   24.73   24.99   24.66</a:t>
            </a:r>
          </a:p>
          <a:p>
            <a:pPr>
              <a:spcAft>
                <a:spcPts val="200"/>
              </a:spcAft>
            </a:pPr>
            <a:r>
              <a:rPr sz="1250" b="0">
                <a:latin typeface="Consolas"/>
              </a:rPr>
              <a:t>narrativeqa        25.61   20.64   22.18   26.19   23.14</a:t>
            </a:r>
          </a:p>
          <a:p>
            <a:pPr>
              <a:spcAft>
                <a:spcPts val="200"/>
              </a:spcAft>
            </a:pPr>
            <a:r>
              <a:rPr sz="1250" b="0">
                <a:latin typeface="Consolas"/>
              </a:rPr>
              <a:t>triviaqa           90.71   87.55   89.82   89.59   90.22</a:t>
            </a:r>
          </a:p>
          <a:p>
            <a:pPr>
              <a:spcAft>
                <a:spcPts val="200"/>
              </a:spcAft>
            </a:pPr>
            <a:r>
              <a:rPr sz="1250" b="0">
                <a:latin typeface="Consolas"/>
              </a:rPr>
              <a:t>lcc                68.81   68.34   69.14   66.22   68.74</a:t>
            </a:r>
          </a:p>
          <a:p>
            <a:pPr>
              <a:spcAft>
                <a:spcPts val="200"/>
              </a:spcAft>
            </a:pPr>
            <a:r>
              <a:rPr sz="1250" b="0">
                <a:latin typeface="Consolas"/>
              </a:rPr>
              <a:t>repobench-p        66.50   63.41   66.40   63.87   65.59</a:t>
            </a:r>
          </a:p>
          <a:p>
            <a:pPr>
              <a:spcAft>
                <a:spcPts val="200"/>
              </a:spcAft>
            </a:pPr>
            <a:r>
              <a:rPr sz="1250" b="1">
                <a:latin typeface="Consolas"/>
              </a:rPr>
              <a:t>AVG                50.36   47.72   50.06   47.86   49.92</a:t>
            </a:r>
            <a:r>
              <a:rPr sz="1100" b="1">
                <a:solidFill>
                  <a:srgbClr val="3A7D44"/>
                </a:solidFill>
              </a:rPr>
              <a:t>  ← TLI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440680"/>
            <a:ext cx="106984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>
                <a:solidFill>
                  <a:srgbClr val="3A7D44"/>
                </a:solidFill>
              </a:rPr>
              <a:t>• TLI = A+B'+D'-gated：far 总量 &lt;0.3 的任务启用 D' 层掩码（4.88× 索引省算），多跳任务不跳层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C1443C"/>
                </a:solidFill>
              </a:rPr>
              <a:t>• negative result：D' 全局掩码跨任务不泛化（musique −4.83 等）；per-task 重校准也失败（长度失配）→ far 总量 gate 是正确设计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C1443C"/>
                </a:solidFill>
              </a:rPr>
              <a:t>Negative Results（论文护城河）</a:t>
            </a:r>
          </a:p>
          <a:p>
            <a:r>
              <a:rPr sz="1300">
                <a:solidFill>
                  <a:srgbClr val="555555"/>
                </a:solidFill>
              </a:rPr>
              <a:t>每一项都有实测编号与脚本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>
                <a:solidFill>
                  <a:srgbClr val="222222"/>
                </a:solidFill>
              </a:rPr>
              <a:t>• E4c：严格 token 预算下，kmeans 聚类代表（块 0.09–0.39 / token 0.45–0.79）无一致优势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222222"/>
                </a:solidFill>
              </a:rPr>
              <a:t>•    ↳ E4b 的 4–10× 占优含整簇超选 bug（5.4× 超预算）+ head 平均口径虚高——口径陷阱本身是方法论贡献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222222"/>
                </a:solidFill>
              </a:rPr>
              <a:t>• E5：跨层 mask 复用 IoU 0.33；decode churn 22%；在线 L1 信号与 far 质量相关 ≈ 0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222222"/>
                </a:solidFill>
              </a:rPr>
              <a:t>•    ↳ 否定「跨层复用」「增量 topk」「在线自适应」三条捷径，确立 D' 必须离线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222222"/>
                </a:solidFill>
              </a:rPr>
              <a:t>• H1/M4：dense top-1024 mass 覆盖恒为 1.0000；竞争区仅占总 mass 0.515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222222"/>
                </a:solidFill>
              </a:rPr>
              <a:t>•    ↳ recall/mass 总口径系统性高估差距 → 论文改报剩余 mass coverage（0.953）+ 端到端分数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222222"/>
                </a:solidFill>
              </a:rPr>
              <a:t>• M6：L2 细筛维数不可压（δ→8 时 cov剩 0.953→0.782）——与聚类路线「细筛必须保全全维」独立同构，两级系统普适教训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222222"/>
                </a:solidFill>
              </a:rPr>
              <a:t>• M3-b：L2 级联纯 kernel 化 No-Go——L1 能容忍多选（下游吸收）、最末级不能（无兜底）→ topk 留给 torch 是正确分工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2F6F9F"/>
                </a:solidFill>
              </a:rPr>
              <a:t>待办与计划</a:t>
            </a:r>
          </a:p>
          <a:p>
            <a:r>
              <a:rPr sz="1300">
                <a:solidFill>
                  <a:srgbClr val="555555"/>
                </a:solidFill>
              </a:rPr>
              <a:t>算法侧三个创新点全部收敛 → 剩系统侧收尾 + H100 主表 + 写作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>
                <a:solidFill>
                  <a:srgbClr val="3A7D44"/>
                </a:solidFill>
              </a:rPr>
              <a:t>• 算法侧 ✅：A（双规模泛化 + 维度边界）/ B'（重定位 + 敏感性）/ D'（跨规模 + gate）——探索已收敛，结论可写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3A7D44"/>
                </a:solidFill>
              </a:rPr>
              <a:t>• 系统侧 ✅：M3–M7 落地（decode 6.6× + prefill 2.1× + 4bit 存储 3.2×），每步对拍零漂移，10 commits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C1443C"/>
                </a:solidFill>
              </a:rPr>
              <a:t>• ⑤ M8 H 卡优化（下一步）：TMA/Tensor Descriptor gather（_sparse_extend 随机行 gather 现仅 576GB/s）+ 141GB 大显存轴（bs=64×S=131K）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222222"/>
                </a:solidFill>
              </a:rPr>
              <a:t>• ⑥ H100 吞吐主表（机器申请中）+ RULER/NIAH 补评测（对齐 Quest/SnapKV/HISA 论文口径）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222222"/>
                </a:solidFill>
              </a:rPr>
              <a:t>• ⑦ S=131K 长上下文主表（M6 已解锁显存前提；bs=32×131K 稀疏 1/8 HBM 流量的收益兑现位）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222222"/>
                </a:solidFill>
              </a:rPr>
              <a:t>• ⑧ 论文写作（骨架见 TWO_LEVEL_PAPER_REPORT.md；主表 + 边界结论 + negative results 已齐）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