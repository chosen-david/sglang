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6F9F"/>
                </a:solidFill>
              </a:defRPr>
            </a:pPr>
            <a:r>
              <a:t>PSI：位置稳定免训练两级稀疏注意力索引（v11，2026-10-04）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块级上界粗筛 + far/near 分区精筛；主表配置经双口径网格端到端选举产生（论文 19 页版为纲）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A7D44"/>
                </a:solidFill>
              </a:defRPr>
            </a:pPr>
            <a:r>
              <a:t>50.78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LongBench 13 任务主表臂</a:t>
            </a:r>
            <a:br/>
            <a:r>
              <a:t>超 FullKV（50.36）+0.42</a:t>
            </a:r>
            <a:br/>
            <a:r>
              <a:t>vs Quest +3.06 / vs MoBA +1.59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4630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A7D44"/>
                </a:solidFill>
              </a:defRPr>
            </a:pPr>
            <a:r>
              <a:t>34.71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musique 多跳 far-heavy 任务</a:t>
            </a:r>
            <a:br/>
            <a:r>
              <a:t>全部方法（含 FullKV）最高</a:t>
            </a:r>
            <a:br/>
            <a:r>
              <a:t>FullKV 32.14 → +2.57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4630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A7D44"/>
                </a:solidFill>
              </a:defRPr>
            </a:pPr>
            <a:r>
              <a:t>87.93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RULER 33 任务（三长度平均）</a:t>
            </a:r>
            <a:br/>
            <a:r>
              <a:t>逼近 FullKV 88.71（−0.78）</a:t>
            </a:r>
            <a:br/>
            <a:r>
              <a:t>16K 档分区增益 +0.91 转正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F6F9F"/>
                </a:solidFill>
              </a:defRPr>
            </a:pPr>
            <a:r>
              <a:t>• 两级索引：L1 块级 minmax 上界粗筛（子空间 d'=32 + 4bit，无漏选）→ L2 far/near 分区 token 级精筛（远端独立配额防挤出）</a:t>
            </a:r>
          </a:p>
          <a:p>
            <a:pPr>
              <a:defRPr sz="1300">
                <a:solidFill>
                  <a:srgbClr val="C1443C"/>
                </a:solidFill>
              </a:defRPr>
            </a:pPr>
            <a:r>
              <a:t>• 配置选举方法学（新增贡献）：3600 个合法 (α,β,γ) 配置的离线质量网格 + 13 个配置臂的端到端实测网格——离线质量冠军在端到端跌至第 3 档（排序系统性反转，秩相关 0.166），选举只认端到端实测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部署简单：任务/层/样本/配置臂四粒度 oracle 上限全部 ≤0.5 分——参数面平坦是结构性属性，一组固定配置覆盖 12/13 任务（对比 DSA 千步 warm-up）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速度侧如实报告：选择链 kernel 级 1.46×@32K → 5.09×@128K；三方 indexer 延迟排名第三，优势在索引计算量（DSA 的 1/32）与索引存储（Quest 的 1/3）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口径铁律贯穿：kernel microbench 与 e2e 两层都测都报；全部精度代价与负结果同机同协议入册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6F9F"/>
                </a:solidFill>
              </a:defRPr>
            </a:pPr>
            <a:r>
              <a:t>背景：KV 带宽瓶颈与三类现有方案的困难权衡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Qwen3-8B 真实 trace：dense top-1024 的注意力质量呈三层位置台阶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25880"/>
          <a:ext cx="107899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38862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222222"/>
                          </a:solidFill>
                        </a:defRPr>
                      </a:pPr>
                      <a:r>
                        <a:t>位置段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222222"/>
                          </a:solidFill>
                        </a:defRPr>
                      </a:pPr>
                      <a:r>
                        <a:t>质量占比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222222"/>
                          </a:solidFill>
                        </a:defRPr>
                      </a:pPr>
                      <a:r>
                        <a:t>统计性质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222222"/>
                          </a:solidFill>
                        </a:defRPr>
                      </a:pPr>
                      <a:r>
                        <a:t>索引需求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sink（首 token）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0.37–0.71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质量大且位置确定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免打分强制保留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近端滑窗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0.16–0.29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密集平稳、分数接近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粗索引即可（块均值不漏）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远端检索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0.02–0.29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稀疏尖锐、kv-head 间极不均（单 head 独占 0.804）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上界粗筛 + token 级精筛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063240"/>
            <a:ext cx="10972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1443C"/>
                </a:solidFill>
              </a:defRPr>
            </a:pPr>
            <a:r>
              <a:t>• 免训练稀疏索引（Quest 为代表）：page 采样最小值构造下界近似——下界低估真实高分页，干扰 key 随长度超线性增多时漏选加剧：实测 RULER 16K multikey_3 崩至 21 分（FullKV 100）</a:t>
            </a:r>
          </a:p>
          <a:p>
            <a:pPr>
              <a:defRPr sz="1250">
                <a:solidFill>
                  <a:srgbClr val="C1443C"/>
                </a:solidFill>
              </a:defRPr>
            </a:pPr>
            <a:r>
              <a:t>• KV 压缩（SnapKV/H2O/PyramidKV）：prefill 时一次性丢弃 KV，无法响应 decode 查询分布；无显式 sink 保送时 Qwen3-8B 首 token 即 EOS（全量 AVG 14.9–28.8 崩坏）</a:t>
            </a:r>
          </a:p>
          <a:p>
            <a:pPr>
              <a:defRPr sz="1250">
                <a:solidFill>
                  <a:srgbClr val="C1443C"/>
                </a:solidFill>
              </a:defRPr>
            </a:pPr>
            <a:r>
              <a:t>• 训练类索引（DSA）：可学习投影换选择能力，需 1000 步 warm-up 与 2.1B token 训练预算，选择质量依赖训练分布</a:t>
            </a:r>
          </a:p>
          <a:p>
            <a:pPr>
              <a:defRPr sz="1250">
                <a:solidFill>
                  <a:srgbClr val="2F6F9F"/>
                </a:solidFill>
              </a:defRPr>
            </a:pPr>
            <a:r>
              <a:t>• 设问：能否设计一个 training-free、零 warm-up 的稀疏注意力索引，在不引入任何可学习参数的前提下，同时保住长上下文检索质量并兑现带宽收益？</a:t>
            </a:r>
          </a:p>
          <a:p>
            <a:pPr>
              <a:defRPr sz="1250">
                <a:solidFill>
                  <a:srgbClr val="222222"/>
                </a:solidFill>
              </a:defRPr>
            </a:pPr>
            <a:r>
              <a:t>• 关键观察：三类 attention 的预算需求互相冲突——稀疏索引要保精度必须同时喂饱三者，这正是分区预算的出发点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6F9F"/>
                </a:solidFill>
              </a:defRPr>
            </a:pPr>
            <a:r>
              <a:t>方法：PSI 两级级联索引（架构四组件）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创新不在级联形态（已有工作验证），而在两个正交维度：分数表示取上界 + 预算组织取分区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25880"/>
          <a:ext cx="107899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组件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机制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关键性质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L1 块级上界粗筛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B=64 切块，子空间 d'=32 上逐维 min/max，4bit 量化（128 维 → 40B/token-head）；query 打分取上界乐观侧，top-K1=128 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子空间打分口径下无漏选：真实高分 token 所在块必然入选（vs Quest 下界漏选）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L2 far/near 分区精筛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sink+滑窗强制保留不占预算；mid 预算分两池——far 池对 L1 入选块做 4bit token 级精筛（配额 128–256 饱和），near 池同口径精筛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远端独立配额防挤出；池边界即因果边界，无需显式因果 mask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感知型 per-request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prefill 末段一次 softmax 统计识别 far 质量近零的层，decode 侧安全跳过其远端检索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动态信号与 decode 侧 far 质量相关 0.924；安全省算力的保守开关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794760"/>
            <a:ext cx="10972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22222"/>
                </a:solidFill>
              </a:defRPr>
            </a:pPr>
            <a:r>
              <a:t>• 预算三参数：α=0.125（near 区比例）/ β=0.375（near 页预算）/ γ=0.625（near token 预算折扣），far 配额保底 64；主表配置由端到端网格选举产生（见后页）</a:t>
            </a:r>
          </a:p>
          <a:p>
            <a:pPr>
              <a:defRPr sz="1200">
                <a:solidFill>
                  <a:srgbClr val="3A7D44"/>
                </a:solidFill>
              </a:defRPr>
            </a:pPr>
            <a:r>
              <a:t>• kernel 化四组件：fused L1 块打分 3.6×@32K / L2 级联 dual topk 单 launch / 统一稀疏 attention fused kernel 11–16× / O(n) 精确增量索引 0.128ms 与序列长度无关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生产形态三项工程：paged 寻址零拷贝 / per-layer 共享 index pool 预分配（launch 数与 batch 无关）/ CUDA graph 捕获区零 host 同步——已在 sglang 集成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H20 设计约束：Tensor Core 吞吐仅 H100 的 15% 而 HBM 带宽同级——打分类 kernel 第一性约束是带宽，TC 化与 TMA 转置实测均否决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6F9F"/>
                </a:solidFill>
              </a:defRPr>
            </a:pPr>
            <a:r>
              <a:t>核心结果：LongBench 13 任务主表臂 50.78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PSI = (minmax, avg) 打分 α=0.125/β=0.375/γ=0.625（端到端网格选举产生）；单池 = 同预算 α=0 消融臂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3385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794"/>
                <a:gridCol w="1619794"/>
                <a:gridCol w="1619794"/>
                <a:gridCol w="1619794"/>
                <a:gridCol w="1619794"/>
                <a:gridCol w="1619794"/>
                <a:gridCol w="1619796"/>
              </a:tblGrid>
              <a:tr h="2804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2222"/>
                          </a:solidFill>
                        </a:defRPr>
                      </a:pPr>
                      <a:r>
                        <a:t>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2222"/>
                          </a:solidFill>
                        </a:defRPr>
                      </a:pPr>
                      <a:r>
                        <a:t>FullKV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2222"/>
                          </a:solidFill>
                        </a:defRPr>
                      </a:pPr>
                      <a:r>
                        <a:t>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2222"/>
                          </a:solidFill>
                        </a:defRPr>
                      </a:pPr>
                      <a:r>
                        <a:t>TIA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2222"/>
                          </a:solidFill>
                        </a:defRPr>
                      </a:pPr>
                      <a:r>
                        <a:t>PSI-单池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2222"/>
                          </a:solidFill>
                        </a:defRPr>
                      </a:pPr>
                      <a:r>
                        <a:t>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2222"/>
                          </a:solidFill>
                        </a:defRPr>
                      </a:pPr>
                      <a:r>
                        <a:t>MoBA</a:t>
                      </a:r>
                    </a:p>
                  </a:txBody>
                  <a:tcPr/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hotpotqa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53.48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45.74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53.89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54.93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A7D44"/>
                          </a:solidFill>
                        </a:defRPr>
                      </a:pPr>
                      <a:r>
                        <a:t>55.44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51.02</a:t>
                      </a:r>
                    </a:p>
                  </a:txBody>
                  <a:tcPr/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2wikimqa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38.29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38.46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38.27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38.57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A7D44"/>
                          </a:solidFill>
                        </a:defRPr>
                      </a:pPr>
                      <a:r>
                        <a:t>39.32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37.16</a:t>
                      </a:r>
                    </a:p>
                  </a:txBody>
                  <a:tcPr/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musique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32.14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27.25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32.28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29.74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A7D44"/>
                          </a:solidFill>
                        </a:defRPr>
                      </a:pPr>
                      <a:r>
                        <a:t>34.71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29.74</a:t>
                      </a:r>
                    </a:p>
                  </a:txBody>
                  <a:tcPr/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passage_ret.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98.50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99.50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99.50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A7D44"/>
                          </a:solidFill>
                        </a:defRPr>
                      </a:pPr>
                      <a:r>
                        <a:t>99.00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94.50</a:t>
                      </a:r>
                    </a:p>
                  </a:txBody>
                  <a:tcPr/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qasper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44.17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40.13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44.03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44.31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A7D44"/>
                          </a:solidFill>
                        </a:defRPr>
                      </a:pPr>
                      <a:r>
                        <a:t>43.95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42.44</a:t>
                      </a:r>
                    </a:p>
                  </a:txBody>
                  <a:tcPr/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multifieldqa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53.40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51.01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53.19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52.87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A7D44"/>
                          </a:solidFill>
                        </a:defRPr>
                      </a:pPr>
                      <a:r>
                        <a:t>53.05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52.83</a:t>
                      </a:r>
                    </a:p>
                  </a:txBody>
                  <a:tcPr/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gov_report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33.17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32.13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33.43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33.49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A7D44"/>
                          </a:solidFill>
                        </a:defRPr>
                      </a:pPr>
                      <a:r>
                        <a:t>33.52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32.79</a:t>
                      </a:r>
                    </a:p>
                  </a:txBody>
                  <a:tcPr/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qmsum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23.53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22.21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23.90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23.87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A7D44"/>
                          </a:solidFill>
                        </a:defRPr>
                      </a:pPr>
                      <a:r>
                        <a:t>23.58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23.12</a:t>
                      </a:r>
                    </a:p>
                  </a:txBody>
                  <a:tcPr/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multi_news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24.93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24.95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24.73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24.64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A7D44"/>
                          </a:solidFill>
                        </a:defRPr>
                      </a:pPr>
                      <a:r>
                        <a:t>24.44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24.62</a:t>
                      </a:r>
                    </a:p>
                  </a:txBody>
                  <a:tcPr/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narrativeqa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25.61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20.64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22.18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24.46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A7D44"/>
                          </a:solidFill>
                        </a:defRPr>
                      </a:pPr>
                      <a:r>
                        <a:t>26.31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23.70</a:t>
                      </a:r>
                    </a:p>
                  </a:txBody>
                  <a:tcPr/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triviaqa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90.71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87.55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89.82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89.88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A7D44"/>
                          </a:solidFill>
                        </a:defRPr>
                      </a:pPr>
                      <a:r>
                        <a:t>90.57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90.46</a:t>
                      </a:r>
                    </a:p>
                  </a:txBody>
                  <a:tcPr/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lcc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68.81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68.34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69.14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69.28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A7D44"/>
                          </a:solidFill>
                        </a:defRPr>
                      </a:pPr>
                      <a:r>
                        <a:t>69.28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68.98</a:t>
                      </a:r>
                    </a:p>
                  </a:txBody>
                  <a:tcPr/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repobench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66.50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63.41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66.40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66.58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A7D44"/>
                          </a:solidFill>
                        </a:defRPr>
                      </a:pPr>
                      <a:r>
                        <a:t>66.97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68.13</a:t>
                      </a:r>
                    </a:p>
                  </a:txBody>
                  <a:tcPr/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t>总分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t>47.72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t>50.06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t>50.16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A7D44"/>
                          </a:solidFill>
                        </a:defRPr>
                      </a:pPr>
                      <a:r>
                        <a:t>50.78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t>49.19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623560"/>
            <a:ext cx="11338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A7D44"/>
                </a:solidFill>
              </a:defRPr>
            </a:pPr>
            <a:r>
              <a:t>• 对 FullKV +0.42 / 对 Quest +3.06 / 对同管线第一代 TIA +0.72 / 对训练门控类 MoBA +1.59；对同预算单池消融臂 +0.62 = 分区防挤出净增益</a:t>
            </a:r>
          </a:p>
          <a:p>
            <a:pPr>
              <a:defRPr sz="1150">
                <a:solidFill>
                  <a:srgbClr val="222222"/>
                </a:solidFill>
              </a:defRPr>
            </a:pPr>
            <a:r>
              <a:t>• 13 任务 8 胜 5 负：正向由 musique +2.57、hotpotqa +1.96、2wikimqa +1.03、narrativeqa +0.70 驱动；负向全部 ≤1 分（passage_retrieval -1.00 为最大损失点）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6F9F"/>
                </a:solidFill>
              </a:defRPr>
            </a:pPr>
            <a:r>
              <a:t>配置选举：双口径网格方法学与排序反转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离线质量网格（5 组合 × 9×9×9 α/β/γ，3600 个合法配置，16 样本 trace）→ 端到端网格（按有效配置去重精选 13 臂，LongBench 双任务 n=200 实测）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5760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44"/>
                <a:gridCol w="1152144"/>
                <a:gridCol w="1152144"/>
                <a:gridCol w="1152144"/>
                <a:gridCol w="1152144"/>
              </a:tblGrid>
              <a:tr h="402336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22222"/>
                          </a:solidFill>
                        </a:defRPr>
                      </a:pPr>
                      <a:r>
                        <a:t>方法组合 (far,near)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22222"/>
                          </a:solidFill>
                        </a:defRPr>
                      </a:pPr>
                      <a:r>
                        <a:t>质量口径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22222"/>
                          </a:solidFill>
                        </a:defRPr>
                      </a:pPr>
                      <a:r>
                        <a:t>质量名次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22222"/>
                          </a:solidFill>
                        </a:defRPr>
                      </a:pPr>
                      <a:r>
                        <a:t>e2e 均分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22222"/>
                          </a:solidFill>
                        </a:defRPr>
                      </a:pPr>
                      <a:r>
                        <a:t>e2e 名次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(minmax, minmax)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A7D44"/>
                          </a:solidFill>
                        </a:defRPr>
                      </a:pPr>
                      <a:r>
                        <a:t>43.90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3（并列）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(minmax, avg)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A7D44"/>
                          </a:solidFill>
                        </a:defRPr>
                      </a:pPr>
                      <a:r>
                        <a:t>45.08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(cluster, avg)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A7D44"/>
                          </a:solidFill>
                        </a:defRPr>
                      </a:pPr>
                      <a:r>
                        <a:t>43.58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(avg, avg)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A7D44"/>
                          </a:solidFill>
                        </a:defRPr>
                      </a:pPr>
                      <a:r>
                        <a:t>43.90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3（并列）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371600"/>
          <a:ext cx="53949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992"/>
                <a:gridCol w="1078992"/>
                <a:gridCol w="1078992"/>
                <a:gridCol w="1078992"/>
                <a:gridCol w="1078992"/>
              </a:tblGrid>
              <a:tr h="4023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2222"/>
                          </a:solidFill>
                        </a:defRPr>
                      </a:pPr>
                      <a:r>
                        <a:t>端到端网格代表臂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2222"/>
                          </a:solidFill>
                        </a:defRPr>
                      </a:pPr>
                      <a:r>
                        <a:t>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2222"/>
                          </a:solidFill>
                        </a:defRPr>
                      </a:pPr>
                      <a:r>
                        <a:t>hotpotqa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2222"/>
                          </a:solidFill>
                        </a:defRPr>
                      </a:pPr>
                      <a:r>
                        <a:t>musique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2222"/>
                          </a:solidFill>
                        </a:defRPr>
                      </a:pPr>
                      <a:r>
                        <a:t>e2e 均分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(minmax,avg) .125/.375/.625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0.880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55.44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34.71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45.08 ←当选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(minmax,avg) .125/.25/.75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0.882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54.16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35.57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44.86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(minmax,minmax) .875/.875/.5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0.896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54.40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33.40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43.90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部署参照臂 .125/.375/.125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0.873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54.43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34.76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44.59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383280"/>
            <a:ext cx="11338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1443C"/>
                </a:solidFill>
              </a:defRPr>
            </a:pPr>
            <a:r>
              <a:t>• 排序系统性反转：质量口径与端到端口径秩相关仅 0.166（bootstrap 95% CI 含 0）；质量冠军在端到端跌至第 3 档，按质量口径选臂相对端到端最优亏 1.18——代理口径对可用级配置主动误导而非中性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• 选举只认端到端实测：最优臂 (minmax, avg) α=0.125/β=0.375/γ=0.625 均分 45.08 居首（hotpotqa 55.44 为全部 13 臂最高）；相对部署参照臂 +0.49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 γ 截断口径注：质量网格总预算 2048 与端到端 K2=1024 的 2 倍差使 γ 被近端细筛配额截断压平（γ=0.375 与 0.75 逐位同分 54.16/35.57）——跨口径选臂必须按有效配置去重</a:t>
            </a:r>
          </a:p>
        </p:txBody>
      </p:sp>
      <p:pic>
        <p:nvPicPr>
          <p:cNvPr id="6" name="Picture 5" descr="fig11_mass_vs_e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526280"/>
            <a:ext cx="10241280" cy="22724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6F9F"/>
                </a:solidFill>
              </a:defRPr>
            </a:pPr>
            <a:r>
              <a:t>部署简单：参数面平坦是结构性属性（四重否定）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预测器可行性判定 NO-GO：任务/层/样本/配置臂四粒度否定收敛于同一结论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60350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</a:tblGrid>
              <a:tr h="420624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22222"/>
                          </a:solidFill>
                        </a:defRPr>
                      </a:pPr>
                      <a:r>
                        <a:t>选参粒度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22222"/>
                          </a:solidFill>
                        </a:defRPr>
                      </a:pPr>
                      <a:r>
                        <a:t>oracle 上限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22222"/>
                          </a:solidFill>
                        </a:defRPr>
                      </a:pPr>
                      <a:r>
                        <a:t>口径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逐任务完美选 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A7D44"/>
                          </a:solidFill>
                        </a:defRPr>
                      </a:pPr>
                      <a:r>
                        <a:t>+0.08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LongBench 13 任务（RULER +0.00）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逐层最优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A7D44"/>
                          </a:solidFill>
                        </a:defRPr>
                      </a:pPr>
                      <a:r>
                        <a:t>+0.0008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 样本 × 96 层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逐样本在线选择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A7D44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prefill 端一次 far 统计驱动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逐配置臂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A7D44"/>
                          </a:solidFill>
                        </a:defRPr>
                      </a:pPr>
                      <a:r>
                        <a:t>+0.21 / +0.49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 端到端臂（vs 固定 β.25 / vs 参照臂）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675120" y="13716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C1443C"/>
                </a:solidFill>
              </a:defRPr>
            </a:pPr>
            <a:r>
              <a:t>• 12 个候选代理特征（任务匹配质量、离散度、合成侧质量等）经 BH 校正后无一显著</a:t>
            </a:r>
          </a:p>
          <a:p>
            <a:pPr>
              <a:defRPr sz="1150">
                <a:solidFill>
                  <a:srgbClr val="C1443C"/>
                </a:solidFill>
              </a:defRPr>
            </a:pPr>
            <a:r>
              <a:t>• 质量代理总量与 e2e 精度秩相关 0.166（CI 含 0）；所有质量派生信号即使方向事后取优，regret 仍 ≥1.18</a:t>
            </a:r>
          </a:p>
          <a:p>
            <a:pPr>
              <a:defRPr sz="1150">
                <a:solidFill>
                  <a:srgbClr val="222222"/>
                </a:solidFill>
              </a:defRPr>
            </a:pPr>
            <a:r>
              <a:t>• 唯一系统性分化（β=0.375 vs 0.25，+0.21）是任务形态交互，不是任何质量侧量能表达的方向</a:t>
            </a:r>
          </a:p>
          <a:p>
            <a:pPr>
              <a:defRPr sz="1150">
                <a:solidFill>
                  <a:srgbClr val="2F6F9F"/>
                </a:solidFill>
              </a:defRPr>
            </a:pPr>
            <a:r>
              <a:t>• 结论：平坦性是参数面的结构性属性而非测量问题——预测器无杠杆可撬</a:t>
            </a:r>
          </a:p>
        </p:txBody>
      </p:sp>
      <p:pic>
        <p:nvPicPr>
          <p:cNvPr id="5" name="Picture 4" descr="fig5_abg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0"/>
            <a:ext cx="5852160" cy="17012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577840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A7D44"/>
                </a:solidFill>
              </a:defRPr>
            </a:pPr>
            <a:r>
              <a:t>• 部署结论：一组默认配置覆盖 12/13 任务；far-heavy 多跳任务可选一次 β 上调——参数不需精调本身构成部署优势（对比 DSA 的 1000 步 warm-up / 2.1B token 训练预算）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 图示（左下）：β 在 0.25–0.75 平坦、α 单调至边界；右下 panel 为 13 个端到端配置臂的离线质量代理对端到端精度散点——两口径秩相关弱，排序反转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6F9F"/>
                </a:solidFill>
              </a:defRPr>
            </a:pPr>
            <a:r>
              <a:t>消融：分区收益的本质与边界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四组判决对齐论文消融节——正结果与负结果同协议入册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3385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6217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2222"/>
                          </a:solidFill>
                        </a:defRPr>
                      </a:pPr>
                      <a:r>
                        <a:t>消融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2222"/>
                          </a:solidFill>
                        </a:defRPr>
                      </a:pPr>
                      <a:r>
                        <a:t>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2222"/>
                          </a:solidFill>
                        </a:defRPr>
                      </a:pPr>
                      <a:r>
                        <a:t>判决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L1 上界维度双校准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同 (α,β) 成对：tail32 54.83/33.22 vs 全维128 54.43/34.76（hotpotqa/musique）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主表结论对 L1 上界维度不敏感；维度效应非可加常数（方法×维度交互），不能跨臂移植校准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紧预算分区（总预算 256→2048 全档）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trace 质量口径单池微胜 Δ≈−0.003，分区胜率 0–1/16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分歧是指标级而非预算级：质量覆盖被 sink/滑窗/近端饱和区遮蔽；分区收益只能在 e2e 任务结构上显影（LongBench +0.62 / RULER +0.17 / 16K +0.91）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top-σ 混合臂（阈值替代精筛）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far 侧 e2e 随 σ 单调劣化 54.31→52.48；near 侧有弹性（55.12 全配置最高）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far 检索质量必须由「块上界粗筛 + token 精筛」保护，near 靠滑窗兜底可放松——分区预算不对称的机理根据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降维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tail32 = 16 个完整最低频 RoPE 旋转对（频率单调 0.811/0.360/0.004）；PCA d=16 近无损 0.766 vs 0.804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降维自由度来自位置先验而非学习/自适应；训练投影 trace 成立（92–94%）而 e2e 崩坏——口径鸿沟是免训练与训练流派的数学分界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617720"/>
            <a:ext cx="11338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A7D44"/>
                </a:solidFill>
              </a:defRPr>
            </a:pPr>
            <a:r>
              <a:t>• 分区 e2e 双基准成立：LongBench +0.62（50.78−50.16，主表可直接验算）、RULER +0.17（87.93−87.76）——与 trace 重放口径单池微胜的分歧坐实「分区收益的本质是紧预算下的预算分配，而非候选质量」</a:t>
            </a:r>
          </a:p>
          <a:p>
            <a:pPr>
              <a:defRPr sz="1150">
                <a:solidFill>
                  <a:srgbClr val="222222"/>
                </a:solidFill>
              </a:defRPr>
            </a:pPr>
            <a:r>
              <a:t>• 聚类代表方案在严格 token 预算下无一致优势且非上界有漏选理论空洞——降级为负结果；(cluster, cluster) 近端聚类无实现路径如实排除</a:t>
            </a:r>
          </a:p>
          <a:p>
            <a:pPr>
              <a:defRPr sz="1150">
                <a:solidFill>
                  <a:srgbClr val="3A7D44"/>
                </a:solidFill>
              </a:defRPr>
            </a:pPr>
            <a:r>
              <a:t>• gate 收益侧量化：τ=0.05 保守臂跳过 14.3% 层、far 质量损失 0.8%、选择链计算等比节省（上界为离线轮廓 13/36 层）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6F9F"/>
                </a:solidFill>
              </a:defRPr>
            </a:pPr>
            <a:r>
              <a:t>基线对比：sink 保送的必要性与训练门控的质量边界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全部基线在统一管线/统一 harness 下复现（预算 1024 同口径）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58521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</a:tblGrid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KV 压缩基线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无 sink 保送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+ sink 保送（计外）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增益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SnapKV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27.70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30.01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A7D44"/>
                          </a:solidFill>
                        </a:defRPr>
                      </a:pPr>
                      <a:r>
                        <a:t>+2.31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H2O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14.87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17.02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A7D44"/>
                          </a:solidFill>
                        </a:defRPr>
                      </a:pPr>
                      <a:r>
                        <a:t>+2.15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PyramidKV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28.82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32.35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A7D44"/>
                          </a:solidFill>
                        </a:defRPr>
                      </a:pPr>
                      <a:r>
                        <a:t>+3.53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92240" y="1325880"/>
          <a:ext cx="53035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64008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22222"/>
                          </a:solidFill>
                        </a:defRPr>
                      </a:pPr>
                      <a:r>
                        <a:t>训练门控 MoBA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22222"/>
                          </a:solidFill>
                        </a:defRPr>
                      </a:pPr>
                      <a:r>
                        <a:t>hotpotqa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22222"/>
                          </a:solidFill>
                        </a:defRPr>
                      </a:pPr>
                      <a:r>
                        <a:t>musique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22222"/>
                          </a:solidFill>
                        </a:defRPr>
                      </a:pPr>
                      <a:r>
                        <a:t>代码任务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PSI（主表臂）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55.44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34.71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repobench 66.97 / lcc 69.28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MoBA（统一 harness）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51.02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29.74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repobench 68.13 / lcc 68.98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429000"/>
            <a:ext cx="11338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C1443C"/>
                </a:solidFill>
              </a:defRPr>
            </a:pPr>
            <a:r>
              <a:t>• sink 论断坐实：无显式 sink 保送时 Qwen3-8B 首 token 即 EOS（H2O musique 0.63 / hotpotqa 2.68 崩坏；末层 sink 权重 mean 0.592 而浅层选择信号不指向 sink，逐层恶性畸变）——任何不显式处理 sink 的稀疏方案在该模型族上都会失真</a:t>
            </a:r>
          </a:p>
          <a:p>
            <a:pPr>
              <a:defRPr sz="1150">
                <a:solidFill>
                  <a:srgbClr val="222222"/>
                </a:solidFill>
              </a:defRPr>
            </a:pPr>
            <a:r>
              <a:t>• sink 保送修复（预算 1024 + sink 128 计外，对齐 PSI 口径）：三方法 +2.15~+3.53（SnapKV 30.01 / PyramidKV 32.35），但距 FullKV 仍 −18~−20 分——sink 保送必要非充分，prefill 静态压缩的候选质量损失是方法固有</a:t>
            </a:r>
          </a:p>
          <a:p>
            <a:pPr>
              <a:defRPr sz="1150">
                <a:solidFill>
                  <a:srgbClr val="222222"/>
                </a:solidFill>
              </a:defRPr>
            </a:pPr>
            <a:r>
              <a:t>• 训练门控 MoBA 全量 49.19（距 FullKV −1.17）：QA/检索任务落后主表臂 4 分以上（hotpotqa 51.02 vs 55.44、musique 29.74 vs 34.71）——无上界 chunk 门控在 token 级质量上掉档；代码任务差距收窄（repobench 68.13 占优 1.16），块局部性红利部分对冲</a:t>
            </a:r>
          </a:p>
          <a:p>
            <a:pPr>
              <a:defRPr sz="1150">
                <a:solidFill>
                  <a:srgbClr val="222222"/>
                </a:solidFill>
              </a:defRPr>
            </a:pPr>
            <a:r>
              <a:t>• 静态稀疏对照 StreamLLM（sink+滑窗，预算 1024）全量 14.20：检索类系统性崩塌（passage 0.25 / musique 1.99）——强制区之外预算为零时 far 检索无从谈起，反面界定分区预算的必要工作面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6F9F"/>
                </a:solidFill>
              </a:defRPr>
            </a:pPr>
            <a:r>
              <a:t>速度：kernel microbench 与端到端双层如实报告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三方 indexer 对比 = 官方核心 kernel 原样接入统一 harness（131K cudaEvent 计时）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58521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4343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选择链 vs dense 打分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加速比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口径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32K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A7D44"/>
                          </a:solidFill>
                        </a:defRPr>
                      </a:pPr>
                      <a:r>
                        <a:t>1.46×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合成数据已标注，trace 重放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64K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A7D44"/>
                          </a:solidFill>
                        </a:defRPr>
                      </a:pPr>
                      <a:r>
                        <a:t>2.77×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同上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128K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A7D44"/>
                          </a:solidFill>
                        </a:defRPr>
                      </a:pPr>
                      <a:r>
                        <a:t>5.09×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同上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92240" y="1325880"/>
          <a:ext cx="53035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4343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2222"/>
                          </a:solidFill>
                        </a:defRPr>
                      </a:pPr>
                      <a:r>
                        <a:t>三方 indexer 单 kernel（131K）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2222"/>
                          </a:solidFill>
                        </a:defRPr>
                      </a:pPr>
                      <a:r>
                        <a:t>延迟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2222"/>
                          </a:solidFill>
                        </a:defRPr>
                      </a:pPr>
                      <a:r>
                        <a:t>备注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0.107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延迟最低，如实报告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DSA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0.503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训练类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0.787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/>
                      </a:pPr>
                      <a:r>
                        <a:t>排名第三——131K 下三家都远离 HBM bound，排名反映实现成熟度而非算法上界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246120"/>
            <a:ext cx="11338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A7D44"/>
                </a:solidFill>
              </a:defRPr>
            </a:pPr>
            <a:r>
              <a:t>• PSI 当前优势在算法结构侧：每 token 索引计算量 ≈258 MAC（DSA 的 1/32）；索引存储 336B/token vs Quest 约 1KB/token（全 head 汇总——Quest 逐 32 个 head 建索引而 PSI 仅建 8 个 kv-head）；质量 vs Quest LongBench +3.06 / RULER +7.98</a:t>
            </a:r>
          </a:p>
          <a:p>
            <a:pPr>
              <a:defRPr sz="1150">
                <a:solidFill>
                  <a:srgbClr val="2F6F9F"/>
                </a:solidFill>
              </a:defRPr>
            </a:pPr>
            <a:r>
              <a:t>• e2e 有形状边界（Qwen3-30B，H20×2）：64K 单请求 1.285×（稀疏理论流量收益首次在 e2e 净兑现）；32K 档 0.77×（短上下文固定开销未覆盖）；TP2 高并发 0.92×——差 8% 归因 launch-bound（带宽 util 仅 10–11%），跨请求批量化已验证 3.8× 为修复方向</a:t>
            </a:r>
          </a:p>
          <a:p>
            <a:pPr>
              <a:defRPr sz="1150">
                <a:solidFill>
                  <a:srgbClr val="222222"/>
                </a:solidFill>
              </a:defRPr>
            </a:pPr>
            <a:r>
              <a:t>• 8B 稳态：decode step 65.0→33.5ms（dense 的 1.21×）；prefill 733.9→183.4s（自身 4.00×，对 dense 仍慢 1.60×——8 个 kv-head 使 gather 形态更重；30B 4 头形态 prefill 为 dense 的 0.77 倍）</a:t>
            </a:r>
          </a:p>
          <a:p>
            <a:pPr>
              <a:defRPr sz="1150">
                <a:solidFill>
                  <a:srgbClr val="C1443C"/>
                </a:solidFill>
              </a:defRPr>
            </a:pPr>
            <a:r>
              <a:t>• profiling 方法论发现：select 热路径 3 处 host 同步在生产形态造成约 10 万次队列排空，合成 bench 完全测不出（消除后 prefill −6.7%）——与「离线重放排名不可替代 e2e」合并为一条方法论：kernel 级与 e2e 两层都测、都诚实报告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6F9F"/>
                </a:solidFill>
              </a:defRPr>
            </a:pPr>
            <a:r>
              <a:t>总结：四条贡献与诚实边界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338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A7D44"/>
                </a:solidFill>
              </a:defRPr>
            </a:pPr>
            <a:r>
              <a:t>• ① 免训练降维自由度的系统刻画：tail32 = 16 个完整最低频 RoPE 旋转对（三重判决）；选取方法学四象限给出可行域边界——tail32 是经 e2e 验证的零信号成本最优解，PCA d=16 近无损可再压</a:t>
            </a:r>
          </a:p>
          <a:p>
            <a:pPr>
              <a:defRPr sz="1200">
                <a:solidFill>
                  <a:srgbClr val="3A7D44"/>
                </a:solidFill>
              </a:defRPr>
            </a:pPr>
            <a:r>
              <a:t>• ② far/near 分区预算：远端独立配额防挤出，双基准 e2e 成立（LongBench +0.62 / RULER +0.17）；musique 34.71 全方法最高（vs 同预算单池 +4.97）</a:t>
            </a:r>
          </a:p>
          <a:p>
            <a:pPr>
              <a:defRPr sz="1200">
                <a:solidFill>
                  <a:srgbClr val="3A7D44"/>
                </a:solidFill>
              </a:defRPr>
            </a:pPr>
            <a:r>
              <a:t>• ③ 感知型 per-request gate：prefill 动态信号 corr 0.924 防住反向错误，定位为安全省算力的保守开关（保守臂跳 14.3% 层、质量损失 0.8%）</a:t>
            </a:r>
          </a:p>
          <a:p>
            <a:pPr>
              <a:defRPr sz="1200">
                <a:solidFill>
                  <a:srgbClr val="3A7D44"/>
                </a:solidFill>
              </a:defRPr>
            </a:pPr>
            <a:r>
              <a:t>• ④ 免调参的轻量配置选择 + 双口径选举方法学：四粒度 oracle 上限全部 ≤0.5 分；离线质量与 e2e 秩相关仅 0.166——选举只认端到端实测，平坦性转译为部署简单（vs DSA 千步 warm-up）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26280"/>
            <a:ext cx="11338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C1443C"/>
                </a:solidFill>
              </a:defRPr>
            </a:pPr>
            <a:r>
              <a:t>• Limitations：双基准最优臂分属两套 (β,γ) 配置，单一配置跨双基准统一性未验证；RULER 87.93 仍低于 FullKV 88.71（残余代价集中于 multikey_3 的 4bit 粒度）；三方 indexer 延迟排名第三（跨请求批量化为兑现路径）；全部结论在 Qwen3 单模型族（rotate_half 布局依赖），跨模型族外推未验证；MLA latent 索引是 future work</a:t>
            </a:r>
          </a:p>
          <a:p>
            <a:pPr>
              <a:defRPr sz="1150">
                <a:solidFill>
                  <a:srgbClr val="C1443C"/>
                </a:solidFill>
              </a:defRPr>
            </a:pPr>
            <a:r>
              <a:t>• 全部精度代价与负结果（聚类代表 / 训练投影 e2e 崩 / 自适应无杠杆 / 非线性降维不可行 / TC 化反慢）在 同机同协议下如实入册</a:t>
            </a:r>
          </a:p>
          <a:p>
            <a:pPr>
              <a:defRPr sz="1150">
                <a:solidFill>
                  <a:srgbClr val="2F6F9F"/>
                </a:solidFill>
              </a:defRPr>
            </a:pPr>
            <a:r>
              <a:t>• 主表臂 50.78 已全量落袋并回填论文（13 任务逐位取自结果 JSON）；PSI 已在 sglang 生产形态（paged 寻址、增量索引、CUDA graph）下集成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