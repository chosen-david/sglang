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32720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>
                <a:solidFill>
                  <a:srgbClr val="2F6F9F"/>
                </a:solidFill>
              </a:rPr>
              <a:t>TLI: Two-Level Indexer</a:t>
            </a:r>
          </a:p>
          <a:p>
            <a:pPr algn="ctr"/>
            <a:r>
              <a:rPr sz="1800">
                <a:solidFill>
                  <a:srgbClr val="222222"/>
                </a:solidFill>
              </a:rPr>
              <a:t>质量守恒（≈TIA）前提下的索引侧降本：A 子空间 + B' 分区预算 + D' 层跳过</a:t>
            </a:r>
          </a:p>
          <a:p>
            <a:pPr algn="ctr"/>
            <a:r>
              <a:rPr sz="1300">
                <a:solidFill>
                  <a:srgbClr val="555555"/>
                </a:solidFill>
              </a:rPr>
              <a:t>进展汇报 v5（含批判性复盘响应 + 同机 kernel 三方对比）｜ Qwen3-8B/32B × 真实 trace × sglang ｜ 2026-09-25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3A7D44"/>
                </a:solidFill>
              </a:rPr>
              <a:t>论文定位与贡献（claim 收紧后）</a:t>
            </a:r>
          </a:p>
          <a:p>
            <a:r>
              <a:rPr sz="1300">
                <a:solidFill>
                  <a:srgbClr val="555555"/>
                </a:solidFill>
              </a:rPr>
              <a:t>质量=守恒而非胜出（TLI 49.92 ≈ TIA 50.06，−0.44 vs FullKV）；主卖点=同精度下索引侧降本 + 系统加速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67665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2F6F9F"/>
                </a:solidFill>
              </a:rPr>
              <a:t>• A 位置稳定子空间粗筛（低频尾维）→ 两级索引的「非对称压缩定律」：L1 可粗、L2 必精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222222"/>
                </a:solidFill>
              </a:rPr>
              <a:t>• 8B/32B 双规模验证：机制存在、强度递减（诚实泛化结论）；L1 d'=16 免费 / L2 δ=8 崩溃（边界已实测）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A7D44"/>
                </a:solidFill>
              </a:rPr>
              <a:t>• B' far/near 分区 L2 预算：远端独立配额防挤出；聚类代表降级为 negative result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222222"/>
                </a:solidFill>
              </a:rPr>
              <a:t>• far_tokens 128–256 饱和；far-heavy 层反超 TIA（L05 +0.0068）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C1443C"/>
                </a:solidFill>
              </a:rPr>
              <a:t>• D' 离线校准层跳过：跳 13/36（32B 41/64）层；gate 泛化是最大风险 → held-out 验证列入待办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2F6F9F"/>
                </a:solidFill>
              </a:rPr>
              <a:t>• S 系统贡献（分层表述）：索引侧 2.57× FLOP + sglang 原型→生产级（M3–M7）；e2e 胜利位=131K/大 batch HBM 流量，非 10K 档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222222"/>
                </a:solidFill>
              </a:rPr>
              <a:t>• 对拍文化：replay 逐位 0.00e+00、e2e 逐字一致、集合 32/32 一致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222222"/>
                </a:solidFill>
              </a:rPr>
              <a:t>• Negative results = 护城河：每一项映射一个 final design decision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222222"/>
                </a:solidFill>
              </a:rPr>
              <a:t>• Venue 定位：MLSys/ASPLOS/SC 风（算法边界 + 系统集成 + 负结果），非纯精度论文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863840" y="1463040"/>
            <a:ext cx="3840480" cy="1371600"/>
          </a:xfrm>
          <a:prstGeom prst="roundRect">
            <a:avLst/>
          </a:prstGeom>
          <a:solidFill>
            <a:srgbClr val="EFF3F8"/>
          </a:solidFill>
          <a:ln w="19050">
            <a:solidFill>
              <a:srgbClr val="2F6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2F6F9F"/>
                </a:solidFill>
              </a:rPr>
              <a:t>2.57×</a:t>
            </a:r>
          </a:p>
          <a:p>
            <a:pPr algn="ctr"/>
            <a:r>
              <a:rPr sz="1100">
                <a:solidFill>
                  <a:srgbClr val="555555"/>
                </a:solidFill>
              </a:rPr>
              <a:t>索引 FLOP 全层平均（E8-1）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63840" y="3017520"/>
            <a:ext cx="3840480" cy="1371600"/>
          </a:xfrm>
          <a:prstGeom prst="roundRect">
            <a:avLst/>
          </a:prstGeom>
          <a:solidFill>
            <a:srgbClr val="EFF3F8"/>
          </a:solidFill>
          <a:ln w="19050">
            <a:solidFill>
              <a:srgbClr val="C144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C1443C"/>
                </a:solidFill>
              </a:rPr>
              <a:t>6.6×</a:t>
            </a:r>
          </a:p>
          <a:p>
            <a:pPr algn="ctr"/>
            <a:r>
              <a:rPr sz="1100">
                <a:solidFill>
                  <a:srgbClr val="555555"/>
                </a:solidFill>
              </a:rPr>
              <a:t>decode 原型→生产级（M3→M5，bs=32）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0" y="4572000"/>
            <a:ext cx="3840480" cy="1371600"/>
          </a:xfrm>
          <a:prstGeom prst="roundRect">
            <a:avLst/>
          </a:prstGeom>
          <a:solidFill>
            <a:srgbClr val="EFF3F8"/>
          </a:solidFill>
          <a:ln w="19050">
            <a:solidFill>
              <a:srgbClr val="3A7D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3A7D44"/>
                </a:solidFill>
              </a:rPr>
              <a:t>32×↓</a:t>
            </a:r>
          </a:p>
          <a:p>
            <a:pPr algn="ctr"/>
            <a:r>
              <a:rPr sz="1100">
                <a:solidFill>
                  <a:srgbClr val="555555"/>
                </a:solidFill>
              </a:rPr>
              <a:t>TLI vs DSA 每 token 索引 MAC（本轮实测口径）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2F6F9F"/>
                </a:solidFill>
              </a:rPr>
              <a:t>动机：注意力的真实形态是三层分解（H1）</a:t>
            </a:r>
          </a:p>
          <a:p>
            <a:r>
              <a:rPr sz="1300">
                <a:solidFill>
                  <a:srgbClr val="555555"/>
                </a:solidFill>
              </a:rPr>
              <a:t>总 mass 口径被 sink 稀释 → 论文质量口径三件套：剩余 mass coverage + 远端 recall + 端到端分数</a:t>
            </a:r>
          </a:p>
        </p:txBody>
      </p:sp>
      <p:pic>
        <p:nvPicPr>
          <p:cNvPr id="3" name="Picture 2" descr="fig1_h1_decomposi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71600"/>
            <a:ext cx="7132320" cy="420401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138160" y="1554480"/>
            <a:ext cx="3657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50">
                <a:solidFill>
                  <a:srgbClr val="222222"/>
                </a:solidFill>
              </a:rPr>
              <a:t>• sink（前 64 tok）：0.37–0.71 质量大头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222222"/>
                </a:solidFill>
              </a:rPr>
              <a:t>• near（末 2048 tok）：0.16–0.29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222222"/>
                </a:solidFill>
              </a:rPr>
              <a:t>• far（中间区）：0.02–0.29，任务相关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C1443C"/>
                </a:solidFill>
              </a:rPr>
              <a:t>• 口径陷阱：dense top-1024 mass 覆盖恒 1.0000；竞争区仅占总 mass 0.515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222222"/>
                </a:solidFill>
              </a:rPr>
              <a:t>• → 主口径=剩余 mass coverage（0.953）+ 远端 recall 单独报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222222"/>
                </a:solidFill>
              </a:rPr>
              <a:t>• → 补 RULER/NIAH/passkey 直接压力测试 far 检索（待办）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2F6F9F"/>
                </a:solidFill>
              </a:rPr>
              <a:t>创新点 A：非对称压缩定律——L1 可粗；L2 瓶颈在「表示」不在「维数」</a:t>
            </a:r>
          </a:p>
          <a:p>
            <a:r>
              <a:rPr sz="1300">
                <a:solidFill>
                  <a:srgbClr val="555555"/>
                </a:solidFill>
              </a:rPr>
              <a:t>本轮扩展（300 行 + 机制分离 + 投影对照）：维度选择口径 L2 不可压；投影表示口径 L2 也可压</a:t>
            </a:r>
          </a:p>
        </p:txBody>
      </p:sp>
      <p:pic>
        <p:nvPicPr>
          <p:cNvPr id="3" name="Picture 2" descr="fig2_e3_subspa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80160"/>
            <a:ext cx="6766560" cy="3627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772400" y="1371600"/>
            <a:ext cx="4023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50">
                <a:solidFill>
                  <a:srgbClr val="222222"/>
                </a:solidFill>
              </a:rPr>
              <a:t>• 8B（E3）：d'=32 recall 0.729 ≈ 全维；random/highfreq 崩溃；32B 泛化强度递减</a:t>
            </a:r>
          </a:p>
          <a:p>
            <a:pPr>
              <a:spcAft>
                <a:spcPts val="600"/>
              </a:spcAft>
            </a:pPr>
            <a:r>
              <a:rPr sz="1050">
                <a:solidFill>
                  <a:srgbClr val="222222"/>
                </a:solidFill>
              </a:rPr>
              <a:t>• 扩展测试（5 trace×5 层×3 t）：选择口径 δ=16→8 far rec 0.557→0.378；fp32 vs 4bit 仅差 2–5% → 病因=维度非量化</a:t>
            </a:r>
          </a:p>
          <a:p>
            <a:pPr>
              <a:spcAft>
                <a:spcPts val="600"/>
              </a:spcAft>
            </a:pPr>
            <a:r>
              <a:rPr sz="1050">
                <a:solidFill>
                  <a:srgbClr val="3A7D44"/>
                </a:solidFill>
              </a:rPr>
              <a:t>• 投影对照（NEW）：PCA16 0.532 ≈ 选择32 0.557（打分维度砍半）；PCA32 0.682 = +0.125；跨任务 PCA 基迁移仅 −0.024（离线校准同 D' 哲学）</a:t>
            </a:r>
          </a:p>
          <a:p>
            <a:pPr>
              <a:spcAft>
                <a:spcPts val="600"/>
              </a:spcAft>
            </a:pPr>
            <a:r>
              <a:rPr sz="1050">
                <a:solidFill>
                  <a:srgbClr val="C1443C"/>
                </a:solidFill>
              </a:rPr>
              <a:t>• 随机投影崩溃（0.147/0.246）：JL 保范数不保 GQA 求和点积排序——K 协方差结构是本质</a:t>
            </a:r>
          </a:p>
          <a:p>
            <a:pPr>
              <a:spcAft>
                <a:spcPts val="600"/>
              </a:spcAft>
            </a:pPr>
            <a:r>
              <a:rPr sz="1050">
                <a:solidFill>
                  <a:srgbClr val="2F6F9F"/>
                </a:solidFill>
              </a:rPr>
              <a:t>• 修正结论：L2 的信息瓶颈在表示方式——投影可压、选择不可压；打分 FLOP 可再减半（工程集成待办）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5806440"/>
            <a:ext cx="3291840" cy="914400"/>
          </a:xfrm>
          <a:prstGeom prst="roundRect">
            <a:avLst/>
          </a:prstGeom>
          <a:solidFill>
            <a:srgbClr val="EFF3F8"/>
          </a:solidFill>
          <a:ln w="19050">
            <a:solidFill>
              <a:srgbClr val="3A7D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3A7D44"/>
                </a:solidFill>
              </a:rPr>
              <a:t>d'=16 免费</a:t>
            </a:r>
          </a:p>
          <a:p>
            <a:pPr algn="ctr"/>
            <a:r>
              <a:rPr sz="1100">
                <a:solidFill>
                  <a:srgbClr val="555555"/>
                </a:solidFill>
              </a:rPr>
              <a:t>L1 维度再减半（M6）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5806440"/>
            <a:ext cx="3291840" cy="914400"/>
          </a:xfrm>
          <a:prstGeom prst="roundRect">
            <a:avLst/>
          </a:prstGeom>
          <a:solidFill>
            <a:srgbClr val="EFF3F8"/>
          </a:solidFill>
          <a:ln w="19050">
            <a:solidFill>
              <a:srgbClr val="2F6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2F6F9F"/>
                </a:solidFill>
              </a:rPr>
              <a:t>PCA16≈选32</a:t>
            </a:r>
          </a:p>
          <a:p>
            <a:pPr algn="ctr"/>
            <a:r>
              <a:rPr sz="1100">
                <a:solidFill>
                  <a:srgbClr val="555555"/>
                </a:solidFill>
              </a:rPr>
              <a:t>投影表示同质砍半维（本轮）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C1443C"/>
                </a:solidFill>
              </a:rPr>
              <a:t>创新点 B'：far/near 分区预算——机制已实测定位（本轮消融）</a:t>
            </a:r>
          </a:p>
          <a:p>
            <a:r>
              <a:rPr sz="1300">
                <a:solidFill>
                  <a:srgbClr val="555555"/>
                </a:solidFill>
              </a:rPr>
              <a:t>GPT 质询「far 在 L1 被剪掉 L2 救不回」→ 三版本消融 + survival curve 定量回答</a:t>
            </a:r>
          </a:p>
        </p:txBody>
      </p:sp>
      <p:pic>
        <p:nvPicPr>
          <p:cNvPr id="3" name="Picture 2" descr="fig3_e4c_strict_budg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554480"/>
            <a:ext cx="7863840" cy="357880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778240" y="1371600"/>
            <a:ext cx="3108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50">
                <a:solidFill>
                  <a:srgbClr val="222222"/>
                </a:solidFill>
              </a:rPr>
              <a:t>• 三版本消融（5 trace × 5 层 × 2 t）：</a:t>
            </a:r>
          </a:p>
          <a:p>
            <a:pPr>
              <a:spcAft>
                <a:spcPts val="600"/>
              </a:spcAft>
            </a:pPr>
            <a:r>
              <a:rPr sz="1050">
                <a:solidFill>
                  <a:srgbClr val="3A7D44"/>
                </a:solidFill>
              </a:rPr>
              <a:t>   L1 存活(oracle far) 0.93–1.00——far 在 L1 被剪不发生</a:t>
            </a:r>
          </a:p>
          <a:p>
            <a:pPr>
              <a:spcAft>
                <a:spcPts val="600"/>
              </a:spcAft>
            </a:pPr>
            <a:r>
              <a:rPr sz="1050">
                <a:solidFill>
                  <a:srgbClr val="C1443C"/>
                </a:solidFill>
              </a:rPr>
              <a:t>   hier(L1 分区) No-Go：far 池 94→16 块，mass cov 0.846→0.811</a:t>
            </a:r>
          </a:p>
          <a:p>
            <a:pPr>
              <a:spcAft>
                <a:spcPts val="600"/>
              </a:spcAft>
            </a:pPr>
            <a:r>
              <a:rPr sz="1050">
                <a:solidFill>
                  <a:srgbClr val="2F6F9F"/>
                </a:solidFill>
              </a:rPr>
              <a:t>   B' 增益机制=近端名额保障（L05 cov剩 0.600→0.726，far mass 同值 0.999）</a:t>
            </a:r>
          </a:p>
          <a:p>
            <a:pPr>
              <a:spcAft>
                <a:spcPts val="600"/>
              </a:spcAft>
            </a:pPr>
            <a:r>
              <a:rPr sz="1050">
                <a:solidFill>
                  <a:srgbClr val="222222"/>
                </a:solidFill>
              </a:rPr>
              <a:t>• → 正确形态=分区只在 L2 终选级（当前实现）</a:t>
            </a:r>
          </a:p>
          <a:p>
            <a:pPr>
              <a:spcAft>
                <a:spcPts val="600"/>
              </a:spcAft>
            </a:pPr>
            <a:r>
              <a:rPr sz="1050">
                <a:solidFill>
                  <a:srgbClr val="222222"/>
                </a:solidFill>
              </a:rPr>
              <a:t>• far_tokens 128–256 饱和；聚类降级 negative result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120640"/>
            <a:ext cx="7863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50">
                <a:solidFill>
                  <a:srgbClr val="222222"/>
                </a:solidFill>
              </a:rPr>
              <a:t>• 名额口径陷阱（本轮发现）：global top-K2 下 far 平均占 569/1024 名额（4bit 噪声+基数效应）——far_rec 虚高但 cov剩 反降；B' 把名额分配从「分数噪声驱动」改为「预算驱动」，far 截到 256 质量不损（far mass cov 0.999 同值）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2F6F9F"/>
                </a:solidFill>
              </a:rPr>
              <a:t>创新点 D'：离线校准层跳过——跨规模复验成立，gate 泛化是最大风险</a:t>
            </a:r>
          </a:p>
          <a:p>
            <a:r>
              <a:rPr sz="1300">
                <a:solidFill>
                  <a:srgbClr val="555555"/>
                </a:solidFill>
              </a:rPr>
              <a:t>强证据：8B 跳 13/36、32B 跳 41/64 precision 0.993；风险：gate 需 held-out 验证去 oracle 化</a:t>
            </a:r>
          </a:p>
        </p:txBody>
      </p:sp>
      <p:pic>
        <p:nvPicPr>
          <p:cNvPr id="3" name="Picture 2" descr="fig4_e6_layer_ski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463040"/>
            <a:ext cx="6949440" cy="40570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138160" y="1645920"/>
            <a:ext cx="3657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50">
                <a:solidFill>
                  <a:srgbClr val="222222"/>
                </a:solidFill>
              </a:rPr>
              <a:t>• 8B：跳 13/36 层，precision 0.92–1.00</a:t>
            </a:r>
          </a:p>
          <a:p>
            <a:pPr>
              <a:spcAft>
                <a:spcPts val="600"/>
              </a:spcAft>
            </a:pPr>
            <a:r>
              <a:rPr sz="1150">
                <a:solidFill>
                  <a:srgbClr val="3A7D44"/>
                </a:solidFill>
              </a:rPr>
              <a:t>• 32B 泛化更强：跳 41/64 层（64%），precision 0.993</a:t>
            </a:r>
          </a:p>
          <a:p>
            <a:pPr>
              <a:spcAft>
                <a:spcPts val="600"/>
              </a:spcAft>
            </a:pPr>
            <a:r>
              <a:rPr sz="1150">
                <a:solidFill>
                  <a:srgbClr val="222222"/>
                </a:solidFill>
              </a:rPr>
              <a:t>• far 层轮廓双峰跨模型同构</a:t>
            </a:r>
          </a:p>
          <a:p>
            <a:pPr>
              <a:spcAft>
                <a:spcPts val="600"/>
              </a:spcAft>
            </a:pPr>
            <a:r>
              <a:rPr sz="1150">
                <a:solidFill>
                  <a:srgbClr val="C1443C"/>
                </a:solidFill>
              </a:rPr>
              <a:t>• 失败史（写进论文）：在线信号 corr≈0 / far 总量判据重叠 / 全局掩码跨任务不泛化 / per-task 重校准长度失配</a:t>
            </a:r>
          </a:p>
          <a:p>
            <a:pPr>
              <a:spcAft>
                <a:spcPts val="600"/>
              </a:spcAft>
            </a:pPr>
            <a:r>
              <a:rPr sz="1150">
                <a:solidFill>
                  <a:srgbClr val="222222"/>
                </a:solidFill>
              </a:rPr>
              <a:t>• → 最终 gate：离线 per-task 层轮廓校准（同长度同分布 trace）</a:t>
            </a:r>
          </a:p>
          <a:p>
            <a:pPr>
              <a:spcAft>
                <a:spcPts val="600"/>
              </a:spcAft>
            </a:pPr>
            <a:r>
              <a:rPr sz="1150">
                <a:solidFill>
                  <a:srgbClr val="222222"/>
                </a:solidFill>
              </a:rPr>
              <a:t>• → 补 held-out 任务/长度切分验证：报告 gate precision + 误跳损失（待办）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2F6F9F"/>
                </a:solidFill>
              </a:rPr>
              <a:t>TLI 架构</a:t>
            </a:r>
          </a:p>
          <a:p>
            <a:r>
              <a:rPr sz="1300">
                <a:solidFill>
                  <a:srgbClr val="555555"/>
                </a:solidFill>
              </a:rPr>
              <a:t>A + B' + D' 数据流 + 空间分区语义：far 区 [sink, S-2048) 是两级索引唯一服务对象</a:t>
            </a:r>
          </a:p>
        </p:txBody>
      </p:sp>
      <p:pic>
        <p:nvPicPr>
          <p:cNvPr id="3" name="Picture 2" descr="fig7_tli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80160"/>
            <a:ext cx="10789920" cy="50365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5120640"/>
            <a:ext cx="10698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50">
                <a:solidFill>
                  <a:srgbClr val="222222"/>
                </a:solidFill>
              </a:rPr>
              <a:t>• 分区语义（源码实证 + 本轮消融）：L1 块筛=全局 top-K1（near 带 34 块也参与竞争，但 far 池保底 ≥94 块，oracle far L1 存活 0.93–1.00）；B' 分区发生在 L2 终选级——far 池 [sink, t+1-2048) 独立 top-256 + 近端带独立 top-768；滑窗强制位不占配额</a:t>
            </a:r>
          </a:p>
          <a:p>
            <a:pPr>
              <a:spcAft>
                <a:spcPts val="600"/>
              </a:spcAft>
            </a:pPr>
            <a:r>
              <a:rPr sz="1150">
                <a:solidFill>
                  <a:srgbClr val="2F6F9F"/>
                </a:solidFill>
              </a:rPr>
              <a:t>• D' 跳层 = 减少需要远端检索的层数；A = 减少 L1 粗筛读/算；B' = 名额分配从分数噪声驱动改为预算驱动（近端下限保障 + far 截断不损质量）——三个创新点正交于一条审稿故事线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3A7D44"/>
                </a:solidFill>
              </a:rPr>
              <a:t>系统贡献：sglang 全链路集成（M3–M7）——分层表述 claim</a:t>
            </a:r>
          </a:p>
          <a:p>
            <a:r>
              <a:rPr sz="1300">
                <a:solidFill>
                  <a:srgbClr val="555555"/>
                </a:solidFill>
              </a:rPr>
              <a:t>可 claim：原型→生产级工程路线（每步对拍零漂移）；不可 claim：10K 档胜过 triton 全量（收益位=长 S HBM）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6949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250" b="1">
                <a:solidFill>
                  <a:srgbClr val="2F6F9F"/>
                </a:solidFill>
                <a:latin typeface="Consolas"/>
              </a:rPr>
              <a:t>decode 阶梯                   bs=1      bs=8     bs=16     bs=32</a:t>
            </a:r>
          </a:p>
          <a:p>
            <a:pPr>
              <a:spcAft>
                <a:spcPts val="200"/>
              </a:spcAft>
            </a:pPr>
            <a:r>
              <a:rPr sz="1250" b="0">
                <a:solidFill>
                  <a:srgbClr val="222222"/>
                </a:solidFill>
                <a:latin typeface="Consolas"/>
              </a:rPr>
              <a:t>M3 原型                       51.4     369.7     666.4    1236.8</a:t>
            </a:r>
          </a:p>
          <a:p>
            <a:pPr>
              <a:spcAft>
                <a:spcPts val="200"/>
              </a:spcAft>
            </a:pPr>
            <a:r>
              <a:rPr sz="1250" b="0">
                <a:solidFill>
                  <a:srgbClr val="222222"/>
                </a:solidFill>
                <a:latin typeface="Consolas"/>
              </a:rPr>
              <a:t>M5 graph               17.7-36.8 70.3-75.587.5-115.2     188.6</a:t>
            </a:r>
          </a:p>
          <a:p>
            <a:pPr>
              <a:spcAft>
                <a:spcPts val="200"/>
              </a:spcAft>
            </a:pPr>
            <a:r>
              <a:rPr sz="1250" b="1">
                <a:solidFill>
                  <a:srgbClr val="C1443C"/>
                </a:solidFill>
                <a:latin typeface="Consolas"/>
              </a:rPr>
              <a:t>triton graph                 7.8      12.8      18.7      31.7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955279" y="1463040"/>
            <a:ext cx="3840480" cy="1051560"/>
          </a:xfrm>
          <a:prstGeom prst="roundRect">
            <a:avLst/>
          </a:prstGeom>
          <a:solidFill>
            <a:srgbClr val="EFF3F8"/>
          </a:solidFill>
          <a:ln w="19050">
            <a:solidFill>
              <a:srgbClr val="C144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C1443C"/>
                </a:solidFill>
              </a:rPr>
              <a:t>6.6×</a:t>
            </a:r>
          </a:p>
          <a:p>
            <a:pPr algn="ctr"/>
            <a:r>
              <a:rPr sz="1100">
                <a:solidFill>
                  <a:srgbClr val="555555"/>
                </a:solidFill>
              </a:rPr>
              <a:t>原型→生产级（bs=32，tok/s 25.9→169.7）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955279" y="2651760"/>
            <a:ext cx="3840480" cy="1051560"/>
          </a:xfrm>
          <a:prstGeom prst="roundRect">
            <a:avLst/>
          </a:prstGeom>
          <a:solidFill>
            <a:srgbClr val="EFF3F8"/>
          </a:solidFill>
          <a:ln w="19050">
            <a:solidFill>
              <a:srgbClr val="2F6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2F6F9F"/>
                </a:solidFill>
              </a:rPr>
              <a:t>2.08×</a:t>
            </a:r>
          </a:p>
          <a:p>
            <a:pPr algn="ctr"/>
            <a:r>
              <a:rPr sz="1100">
                <a:solidFill>
                  <a:srgbClr val="555555"/>
                </a:solidFill>
              </a:rPr>
              <a:t>prefill（select 快路径 5.2×@10K）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931920"/>
            <a:ext cx="11155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50">
                <a:solidFill>
                  <a:srgbClr val="222222"/>
                </a:solidFill>
              </a:rPr>
              <a:t>• M4 批量化：共享 index pool + 批量 select/增量（launch 数与 bs 无关）；线性项 38→5.2 ms/req</a:t>
            </a:r>
          </a:p>
          <a:p>
            <a:pPr>
              <a:spcAft>
                <a:spcPts val="600"/>
              </a:spcAft>
            </a:pPr>
            <a:r>
              <a:rPr sz="1150">
                <a:solidFill>
                  <a:srgbClr val="222222"/>
                </a:solidFill>
              </a:rPr>
              <a:t>• M5 CUDA graph：图内统一增量/稀疏路径零 host 同步；replay vs eager 逐位 0.00e+00；短行 veto 回退</a:t>
            </a:r>
          </a:p>
          <a:p>
            <a:pPr>
              <a:spcAft>
                <a:spcPts val="600"/>
              </a:spcAft>
            </a:pPr>
            <a:r>
              <a:rPr sz="1150">
                <a:solidFill>
                  <a:srgbClr val="222222"/>
                </a:solidFill>
              </a:rPr>
              <a:t>• M6 kq 真 4bit：uint8+scale 三张量，128→40 B/token-head，重建≡量化零漂移——131K 显存前提解锁</a:t>
            </a:r>
          </a:p>
          <a:p>
            <a:pPr>
              <a:spcAft>
                <a:spcPts val="600"/>
              </a:spcAft>
            </a:pPr>
            <a:r>
              <a:rPr sz="1150">
                <a:solidFill>
                  <a:srgbClr val="222222"/>
                </a:solidFill>
              </a:rPr>
              <a:t>• M7 prefill：归因修正（瓶颈是 select 而非 build）→ 池==因果区快路径；prefill 延迟随 S 亚线性（9.5→62.1 ms/层 @5K→130K）</a:t>
            </a:r>
          </a:p>
          <a:p>
            <a:pPr>
              <a:spcAft>
                <a:spcPts val="600"/>
              </a:spcAft>
            </a:pPr>
            <a:r>
              <a:rPr sz="1150">
                <a:solidFill>
                  <a:srgbClr val="C1443C"/>
                </a:solidFill>
              </a:rPr>
              <a:t>• 诚实边界：S=10K 档仍慢于 triton 全量；稀疏收益=长 S 的 HBM 流量（bs=32×131K 时 triton ~620GB/步纯 HBM）——主表待 H100/131K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C1443C"/>
                </a:solidFill>
              </a:rPr>
              <a:t>同机 kernel 对比：Quest / DSA / TLI（NEW，本轮实测）</a:t>
            </a:r>
          </a:p>
          <a:p>
            <a:r>
              <a:rPr sz="1300">
                <a:solidFill>
                  <a:srgbClr val="555555"/>
                </a:solidFill>
              </a:rPr>
              <a:t>官方 kernel 原样接入统一 harness，同机同口径诚实报告——H20-3e，decode 单 token per-layer-call，ms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325880"/>
            <a:ext cx="7589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50" b="1">
                <a:solidFill>
                  <a:srgbClr val="2F6F9F"/>
                </a:solidFill>
                <a:latin typeface="Consolas"/>
              </a:rPr>
              <a:t>indexer @131K        S=10K     S=40K    S=131K    存储/tok       训练?     LB-13</a:t>
            </a:r>
          </a:p>
          <a:p>
            <a:pPr>
              <a:spcAft>
                <a:spcPts val="200"/>
              </a:spcAft>
            </a:pPr>
            <a:r>
              <a:rPr sz="1150" b="0">
                <a:solidFill>
                  <a:srgbClr val="222222"/>
                </a:solidFill>
                <a:latin typeface="Consolas"/>
              </a:rPr>
              <a:t>Quest 官方             0.066     0.077     0.107      ~1KB        免训     47.72</a:t>
            </a:r>
          </a:p>
          <a:p>
            <a:pPr>
              <a:spcAft>
                <a:spcPts val="200"/>
              </a:spcAft>
            </a:pPr>
            <a:r>
              <a:rPr sz="1150" b="0">
                <a:solidFill>
                  <a:srgbClr val="222222"/>
                </a:solidFill>
                <a:latin typeface="Consolas"/>
              </a:rPr>
              <a:t>DSA 官方               0.476     0.490     0.503     ~132B        需训         —</a:t>
            </a:r>
          </a:p>
          <a:p>
            <a:pPr>
              <a:spcAft>
                <a:spcPts val="200"/>
              </a:spcAft>
            </a:pPr>
            <a:r>
              <a:rPr sz="1150" b="0">
                <a:solidFill>
                  <a:srgbClr val="222222"/>
                </a:solidFill>
                <a:latin typeface="Consolas"/>
              </a:rPr>
              <a:t>TLI eager            0.736     0.780     0.853     ~336B        免训     49.92</a:t>
            </a:r>
          </a:p>
          <a:p>
            <a:pPr>
              <a:spcAft>
                <a:spcPts val="200"/>
              </a:spcAft>
            </a:pPr>
            <a:r>
              <a:rPr sz="1150" b="1">
                <a:solidFill>
                  <a:srgbClr val="C1443C"/>
                </a:solidFill>
                <a:latin typeface="Consolas"/>
              </a:rPr>
              <a:t>TLI fusedL1          0.604     0.658     0.787     ~336B        免训     49.92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206240"/>
            <a:ext cx="111556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>
                <a:solidFill>
                  <a:srgbClr val="555555"/>
                </a:solidFill>
              </a:rPr>
              <a:t>• 口径：Quest = page GEMV(q·kmin/kmax, fp16 32head) + 官方 raft decode_select_k(radix, k=64pages=1024tok)；DSA = 官方 tilelang fp8_index(64head×128d FP8 GEMV) + topk(2048)；TLI = 两级 select 全链路（真实 trace 两层均值，Hkv=8 GQA vs DSA 64head×128d 生产配置，架构差异如实报告）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222222"/>
                </a:solidFill>
              </a:rPr>
              <a:t>• Quest 索引最快（µs 级 GEMV+radix）但代价是 1KB/token 索引存储（3× TLI）且 LongBench −2.2 分；DSA 0.5ms 与 S 无关（launch 主导）但需训练 indexer（1000 步/2.1B token warm-up）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C1443C"/>
                </a:solidFill>
              </a:rPr>
              <a:t>• 诚实结论：TLI 当前原始延迟不占优（0.6–0.83 vs DSA 0.5ms）——但每 token 索引 MAC 32×↓（8kv-head×32d vs 64×128）、D' 跳 13/36 层摊销，且质量 +2.2 分 vs Quest；差距来源=eager topk/gather 的 launch 开销，M8 kernel 化是兑现路径（算力/存储余量已备好）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2F6F9F"/>
                </a:solidFill>
              </a:rPr>
              <a:t>索引开销与 fused kernel（E8）</a:t>
            </a:r>
          </a:p>
          <a:p>
            <a:r>
              <a:rPr sz="1300">
                <a:solidFill>
                  <a:srgbClr val="555555"/>
                </a:solidFill>
              </a:rPr>
              <a:t>正确解释：省算集中在 skip layers 与 L1 侧；attention 主计算量不变（K2 固定）——不包装成主算子胜利</a:t>
            </a:r>
          </a:p>
        </p:txBody>
      </p:sp>
      <p:pic>
        <p:nvPicPr>
          <p:cNvPr id="3" name="Picture 2" descr="fig5_e8_speed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463040"/>
            <a:ext cx="10241280" cy="473027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539496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222222"/>
                </a:solidFill>
              </a:rPr>
              <a:t>• E8-1: 跳层 4.88× / 非跳层 1.27×（A 子空间贡献）/ 全层平均 2.57×；index-side efficiency，非 attention 主算子加速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222222"/>
                </a:solidFill>
              </a:rPr>
              <a:t>• E8-2: L1 fused 3.6×/1.6×（块 id 对拍一致）+ L2 级联 fused 1.63×（分区 topk 对拍 4096/4096）——完整两级仅 2 launches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2F6F9F"/>
                </a:solidFill>
              </a:rPr>
              <a:t>TLI vs TIA 逐层质量（E5b debug，hotpotqa）</a:t>
            </a:r>
          </a:p>
          <a:p>
            <a:r>
              <a:rPr sz="1300">
                <a:solidFill>
                  <a:srgbClr val="555555"/>
                </a:solidFill>
              </a:rPr>
              <a:t>全 36 层 diff &lt; 0.001；far-heavy 层反超（分区防挤出）——质量守恒的直接证据</a:t>
            </a:r>
          </a:p>
        </p:txBody>
      </p:sp>
      <p:pic>
        <p:nvPicPr>
          <p:cNvPr id="3" name="Picture 2" descr="fig6_tli_vs_tia_lay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463040"/>
            <a:ext cx="9326880" cy="5000696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1371600" y="5669280"/>
            <a:ext cx="3291840" cy="914400"/>
          </a:xfrm>
          <a:prstGeom prst="roundRect">
            <a:avLst/>
          </a:prstGeom>
          <a:solidFill>
            <a:srgbClr val="EFF3F8"/>
          </a:solidFill>
          <a:ln w="19050">
            <a:solidFill>
              <a:srgbClr val="3A7D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3A7D44"/>
                </a:solidFill>
              </a:rPr>
              <a:t>36/36 层</a:t>
            </a:r>
          </a:p>
          <a:p>
            <a:pPr algn="ctr"/>
            <a:r>
              <a:rPr sz="1100">
                <a:solidFill>
                  <a:srgbClr val="555555"/>
                </a:solidFill>
              </a:rPr>
              <a:t>diff &lt; 0.001 vs TIA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0" y="5669280"/>
            <a:ext cx="3291840" cy="914400"/>
          </a:xfrm>
          <a:prstGeom prst="roundRect">
            <a:avLst/>
          </a:prstGeom>
          <a:solidFill>
            <a:srgbClr val="EFF3F8"/>
          </a:solidFill>
          <a:ln w="19050">
            <a:solidFill>
              <a:srgbClr val="2F6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2F6F9F"/>
                </a:solidFill>
              </a:rPr>
              <a:t>+0.0068</a:t>
            </a:r>
          </a:p>
          <a:p>
            <a:pPr algn="ctr"/>
            <a:r>
              <a:rPr sz="1100">
                <a:solidFill>
                  <a:srgbClr val="555555"/>
                </a:solidFill>
              </a:rPr>
              <a:t>L05 反超 TIA（0.9997 vs 0.9929）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2F6F9F"/>
                </a:solidFill>
              </a:rPr>
              <a:t>E5b：LongBench 13 子集主表（+ 负向任务诊断）</a:t>
            </a:r>
          </a:p>
          <a:p>
            <a:r>
              <a:rPr sz="1300">
                <a:solidFill>
                  <a:srgbClr val="555555"/>
                </a:solidFill>
              </a:rPr>
              <a:t>质量 claim 收紧：近似守恒（−0.14 vs TIA / −0.44 vs FullKV），不是全面胜出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698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150" b="1">
                <a:latin typeface="Consolas"/>
              </a:rPr>
              <a:t>task              FullKV   Quest     TIA     TWI     TLI</a:t>
            </a:r>
          </a:p>
          <a:p>
            <a:pPr>
              <a:spcAft>
                <a:spcPts val="100"/>
              </a:spcAft>
            </a:pPr>
            <a:r>
              <a:rPr sz="1150" b="0">
                <a:latin typeface="Consolas"/>
              </a:rPr>
              <a:t>hotpotqa           53.48   45.74   53.89   48.98   53.96</a:t>
            </a:r>
          </a:p>
          <a:p>
            <a:pPr>
              <a:spcAft>
                <a:spcPts val="100"/>
              </a:spcAft>
            </a:pPr>
            <a:r>
              <a:rPr sz="1150" b="0">
                <a:latin typeface="Consolas"/>
              </a:rPr>
              <a:t>2wikimqa           38.29   38.46   38.27   36.16   39.07</a:t>
            </a:r>
          </a:p>
          <a:p>
            <a:pPr>
              <a:spcAft>
                <a:spcPts val="100"/>
              </a:spcAft>
            </a:pPr>
            <a:r>
              <a:rPr sz="1150" b="0">
                <a:latin typeface="Consolas"/>
              </a:rPr>
              <a:t>musique            32.14   27.25   32.28   23.60   31.35</a:t>
            </a:r>
          </a:p>
          <a:p>
            <a:pPr>
              <a:spcAft>
                <a:spcPts val="100"/>
              </a:spcAft>
            </a:pPr>
            <a:r>
              <a:rPr sz="1150" b="0">
                <a:latin typeface="Consolas"/>
              </a:rPr>
              <a:t>passage_ret_en     100.0   98.50   99.50   98.50   100.0</a:t>
            </a:r>
          </a:p>
          <a:p>
            <a:pPr>
              <a:spcAft>
                <a:spcPts val="100"/>
              </a:spcAft>
            </a:pPr>
            <a:r>
              <a:rPr sz="1150" b="0">
                <a:latin typeface="Consolas"/>
              </a:rPr>
              <a:t>qasper             44.17   40.13   44.03   38.96   44.03</a:t>
            </a:r>
          </a:p>
          <a:p>
            <a:pPr>
              <a:spcAft>
                <a:spcPts val="100"/>
              </a:spcAft>
            </a:pPr>
            <a:r>
              <a:rPr sz="1150" b="0">
                <a:latin typeface="Consolas"/>
              </a:rPr>
              <a:t>multifieldqa_en    53.40   51.01   53.19   48.11   52.98</a:t>
            </a:r>
          </a:p>
          <a:p>
            <a:pPr>
              <a:spcAft>
                <a:spcPts val="100"/>
              </a:spcAft>
            </a:pPr>
            <a:r>
              <a:rPr sz="1150" b="0">
                <a:latin typeface="Consolas"/>
              </a:rPr>
              <a:t>gov_report         33.17   32.13   33.43   33.09   32.41</a:t>
            </a:r>
          </a:p>
          <a:p>
            <a:pPr>
              <a:spcAft>
                <a:spcPts val="100"/>
              </a:spcAft>
            </a:pPr>
            <a:r>
              <a:rPr sz="1150" b="0">
                <a:latin typeface="Consolas"/>
              </a:rPr>
              <a:t>qmsum              23.53   22.21   23.90   23.98   22.77</a:t>
            </a:r>
          </a:p>
          <a:p>
            <a:pPr>
              <a:spcAft>
                <a:spcPts val="100"/>
              </a:spcAft>
            </a:pPr>
            <a:r>
              <a:rPr sz="1150" b="0">
                <a:latin typeface="Consolas"/>
              </a:rPr>
              <a:t>multi_news         24.93   24.95   24.73   24.99   24.66</a:t>
            </a:r>
          </a:p>
          <a:p>
            <a:pPr>
              <a:spcAft>
                <a:spcPts val="100"/>
              </a:spcAft>
            </a:pPr>
            <a:r>
              <a:rPr sz="1150" b="0">
                <a:latin typeface="Consolas"/>
              </a:rPr>
              <a:t>narrativeqa        25.61   20.64   22.18   26.19   23.14</a:t>
            </a:r>
          </a:p>
          <a:p>
            <a:pPr>
              <a:spcAft>
                <a:spcPts val="100"/>
              </a:spcAft>
            </a:pPr>
            <a:r>
              <a:rPr sz="1150" b="0">
                <a:latin typeface="Consolas"/>
              </a:rPr>
              <a:t>triviaqa           90.71   87.55   89.82   89.59   90.22</a:t>
            </a:r>
          </a:p>
          <a:p>
            <a:pPr>
              <a:spcAft>
                <a:spcPts val="100"/>
              </a:spcAft>
            </a:pPr>
            <a:r>
              <a:rPr sz="1150" b="0">
                <a:latin typeface="Consolas"/>
              </a:rPr>
              <a:t>lcc                68.81   68.34   69.14   66.22   68.74</a:t>
            </a:r>
          </a:p>
          <a:p>
            <a:pPr>
              <a:spcAft>
                <a:spcPts val="100"/>
              </a:spcAft>
            </a:pPr>
            <a:r>
              <a:rPr sz="1150" b="0">
                <a:latin typeface="Consolas"/>
              </a:rPr>
              <a:t>repobench-p        66.50   63.41   66.40   63.87   65.59</a:t>
            </a:r>
          </a:p>
          <a:p>
            <a:pPr>
              <a:spcAft>
                <a:spcPts val="100"/>
              </a:spcAft>
            </a:pPr>
            <a:r>
              <a:rPr sz="1150" b="1">
                <a:latin typeface="Consolas"/>
              </a:rPr>
              <a:t>AVG                50.36   47.72   50.06   47.86   49.92</a:t>
            </a:r>
            <a:r>
              <a:rPr sz="1100" b="1">
                <a:solidFill>
                  <a:srgbClr val="3A7D44"/>
                </a:solidFill>
              </a:rPr>
              <a:t>  ← TLI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892040"/>
            <a:ext cx="106984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>
                <a:solidFill>
                  <a:srgbClr val="C1443C"/>
                </a:solidFill>
              </a:rPr>
              <a:t>• 负向任务逐项诊断（GPT 复盘采纳）：musique −0.93 / gov_report −1.02 / qmsum −1.13 / repobench-p −0.81 vs TIA——musique/qasper 已定位为 D' gate 错位（关 D' 后精确恢复）；长摘要类疑似层跳过干扰全局聚合；正向任务 2wikimqa/hotpotqa/passage 支持分区预算价值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222222"/>
                </a:solidFill>
              </a:rPr>
              <a:t>• D'-gate：far 总量 &lt;0.3 的任务启用层掩码（4.88× 索引省算），多跳任务不跳层；补：多 seed/置信区间 + 远端挤出比例图（TIA vs TLI-B'）列入待办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C1443C"/>
                </a:solidFill>
              </a:rPr>
              <a:t>Negative Results（论文护城河）</a:t>
            </a:r>
          </a:p>
          <a:p>
            <a:r>
              <a:rPr sz="1300">
                <a:solidFill>
                  <a:srgbClr val="555555"/>
                </a:solidFill>
              </a:rPr>
              <a:t>每一项映射一个 final design decision——不是实验流水账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50">
                <a:solidFill>
                  <a:srgbClr val="222222"/>
                </a:solidFill>
              </a:rPr>
              <a:t>• E4c：严格 token 预算下，kmeans 聚类代表无一致优势（块 0.09–0.39 / token 0.45–0.79）；E4b 的 4–10× 占优含整簇超选 bug → 【decision】B' = 分区预算而非聚类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222222"/>
                </a:solidFill>
              </a:rPr>
              <a:t>• E5：跨层 mask 复用 IoU 0.33；decode churn 22%；在线 L1 信号与 far 质量 corr≈0 → 【decision】D' 必须离线校准，无在线捷径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222222"/>
                </a:solidFill>
              </a:rPr>
              <a:t>• H1/M4：dense top-1024 mass 覆盖恒 1.0000；竞争区仅占总 mass 0.515 → 【decision】主指标改剩余 mass coverage + 远端 recall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222222"/>
                </a:solidFill>
              </a:rPr>
              <a:t>• M6+扩展：L2 细筛维度选择不可压（δ→8 far rec 0.557→0.378，病因=维度非量化）；投影表示可压（PCA16≈选32）→ 【decision】非对称压缩定律精化：L1 上界可粗，L2 瓶颈在表示方式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222222"/>
                </a:solidFill>
              </a:rPr>
              <a:t>• 分区消融（本轮）：hierarchical（L1 far/near 分区保底）No-Go——near 带仅 34 块 vs K1=128，far 池天然 ≥94 块（oracle far L1 存活 0.93–1.00）；L1 强制分区反把 far 池砍到 16 块 → 【decision】分区只需在 L2 终选级（当前实现即正确形态）；B' 增益机制=近端名额保障（far mass cov 同值 0.999）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222222"/>
                </a:solidFill>
              </a:rPr>
              <a:t>• 投影对照（本轮）：随机投影崩溃（JL 保范数不保 GQA 点积排序）→ 【decision】降维必须用 K 协方差结构（PCA/校准基），不能用免校准随机基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222222"/>
                </a:solidFill>
              </a:rPr>
              <a:t>• M3-b：L2 级联纯 kernel 化 No-Go（4bit 并列过选无人兜底 + 二分串行反慢 4.5×）→ 【decision】级联分工：L1 容忍多选、topk 留给 torch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222222"/>
                </a:solidFill>
              </a:rPr>
              <a:t>• E5b：D' far 总量 gate 判据跨模型重叠（8B/32B 均不成立）；per-task 重校准长度失配更差 → 【decision】gate = per-task 层轮廓校准 + held-out 验证（待办）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555555"/>
                </a:solidFill>
              </a:rPr>
              <a:t>批判性复盘响应（外部 review 采纳清单）</a:t>
            </a:r>
          </a:p>
          <a:p>
            <a:r>
              <a:rPr sz="1300">
                <a:solidFill>
                  <a:srgbClr val="555555"/>
                </a:solidFill>
              </a:rPr>
              <a:t>对 v4 的 19 页批判性复盘逐条分析：7 项采纳、2 项修正、其余已满足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1556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50">
                <a:solidFill>
                  <a:srgbClr val="3A7D44"/>
                </a:solidFill>
              </a:rPr>
              <a:t>• 采纳① claim 收紧：质量=守恒（≈TIA）而非胜出 FullKV；卖点二选一已定调=性能（同精度下索引降本+加速）</a:t>
            </a:r>
          </a:p>
          <a:p>
            <a:pPr>
              <a:spcAft>
                <a:spcPts val="600"/>
              </a:spcAft>
            </a:pPr>
            <a:r>
              <a:rPr sz="1150">
                <a:solidFill>
                  <a:srgbClr val="3A7D44"/>
                </a:solidFill>
              </a:rPr>
              <a:t>• 采纳② 系统贡献分层：6.6× 明确标注为「原型→生产级」工程进步；10K 档 vs triton 差距继续如实报告</a:t>
            </a:r>
          </a:p>
          <a:p>
            <a:pPr>
              <a:spcAft>
                <a:spcPts val="600"/>
              </a:spcAft>
            </a:pPr>
            <a:r>
              <a:rPr sz="1150">
                <a:solidFill>
                  <a:srgbClr val="3A7D44"/>
                </a:solidFill>
              </a:rPr>
              <a:t>• 采纳③ 负向任务逐项诊断 + 三张诊断图建议（任务×D'启用×delta 二维表 / 远端挤出比例图 / 任务级 residual coverage 相关性）——前两张列入待办</a:t>
            </a:r>
          </a:p>
          <a:p>
            <a:pPr>
              <a:spcAft>
                <a:spcPts val="600"/>
              </a:spcAft>
            </a:pPr>
            <a:r>
              <a:rPr sz="1150">
                <a:solidFill>
                  <a:srgbClr val="3A7D44"/>
                </a:solidFill>
              </a:rPr>
              <a:t>• 采纳④ A 表述升级「非对称压缩定律」/ positional-stable subspace bound（S4 已改）</a:t>
            </a:r>
          </a:p>
          <a:p>
            <a:pPr>
              <a:spcAft>
                <a:spcPts val="600"/>
              </a:spcAft>
            </a:pPr>
            <a:r>
              <a:rPr sz="1150">
                <a:solidFill>
                  <a:srgbClr val="3A7D44"/>
                </a:solidFill>
              </a:rPr>
              <a:t>• 采纳⑤ negative result → design decision 映射写法（S13 已改）</a:t>
            </a:r>
          </a:p>
          <a:p>
            <a:pPr>
              <a:spcAft>
                <a:spcPts val="600"/>
              </a:spcAft>
            </a:pPr>
            <a:r>
              <a:rPr sz="1150">
                <a:solidFill>
                  <a:srgbClr val="3A7D44"/>
                </a:solidFill>
              </a:rPr>
              <a:t>• 采纳⑥ venue 定位 MLSys/ASPLOS/SC + Go/No-Go 硬阈值管理（S15）</a:t>
            </a:r>
          </a:p>
          <a:p>
            <a:pPr>
              <a:spcAft>
                <a:spcPts val="600"/>
              </a:spcAft>
            </a:pPr>
            <a:r>
              <a:rPr sz="1150">
                <a:solidFill>
                  <a:srgbClr val="3A7D44"/>
                </a:solidFill>
              </a:rPr>
              <a:t>• 采纳⑦ RULER/NIAH/passkey + held-out gate + 多 seed 置信区间列入待办</a:t>
            </a:r>
          </a:p>
          <a:p>
            <a:pPr>
              <a:spcAft>
                <a:spcPts val="600"/>
              </a:spcAft>
            </a:pPr>
            <a:r>
              <a:rPr sz="1150">
                <a:solidFill>
                  <a:srgbClr val="C1443C"/>
                </a:solidFill>
              </a:rPr>
              <a:t>• 修正① 「kernel 打不打得过」不用猜——本轮已补同机实测（S9）：Quest/DSA 官方 kernel 原样接入，TLI 延迟当前不占优但 MAC 32×↓ + 质量优势，兑现路径明确</a:t>
            </a:r>
          </a:p>
          <a:p>
            <a:pPr>
              <a:spcAft>
                <a:spcPts val="600"/>
              </a:spcAft>
            </a:pPr>
            <a:r>
              <a:rPr sz="1150">
                <a:solidFill>
                  <a:srgbClr val="C1443C"/>
                </a:solidFill>
              </a:rPr>
              <a:t>• 修正② 「E8 与 E2E 关系」补分离口径：index/select/sparse-attn/decode-E2E 分开报（S9 表 + S8 归因行），2.57× 不冒充 E2E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2F6F9F"/>
                </a:solidFill>
              </a:rPr>
              <a:t>待办与计划（含 Go/No-Go 硬阈值）</a:t>
            </a:r>
          </a:p>
          <a:p>
            <a:r>
              <a:rPr sz="1300">
                <a:solidFill>
                  <a:srgbClr val="555555"/>
                </a:solidFill>
              </a:rPr>
              <a:t>算法侧收敛 → 剩系统侧收尾 + 主表 + held-out 验证 + 写作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1097280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50">
                <a:solidFill>
                  <a:srgbClr val="3A7D44"/>
                </a:solidFill>
              </a:rPr>
              <a:t>• 算法侧 ✅：A（双规模 + 维度边界）/ B'（重定位 + 敏感性）/ D'（跨规模 + gate 失败史）——结论可写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3A7D44"/>
                </a:solidFill>
              </a:rPr>
              <a:t>• 系统侧 ✅：M3–M7（decode 原型→生产级 6.6× + prefill 2.1× + 4bit 3.2×），每步对拍零漂移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2F6F9F"/>
                </a:solidFill>
              </a:rPr>
              <a:t>• kernel 对比 ✅（本轮）：Quest/DSA 官方 kernel 同机接入——TLI 0.6–0.83ms vs DSA 0.5ms，MAC 32×↓；⑤ M8 kernel 化是延迟兑现路径（TMA gather + fused select）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2F6F9F"/>
                </a:solidFill>
              </a:rPr>
              <a:t>• PCA 投影集成（新方向，本轮验证）：kq 存 PCA 投影 4bit（r=16 → 16B/token-head vs 40B）+ q 侧 [D×r] GEMV；跨任务校准基已验证迁移——L2 打分 FLOP 再砍半 + 存储 2.5×↓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222222"/>
                </a:solidFill>
              </a:rPr>
              <a:t>• ⑥ MoBA 对比（flash-attn 依赖，降级预案=论文数字+算术账）+ Quest e2e 口径对比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C1443C"/>
                </a:solidFill>
              </a:rPr>
              <a:t>• ⑦ 主表：H100 吞吐 + S=131K + RULER/NIAH/passkey（质量 Go/No-Go：AVG ≥ TIA−0.3，关键 far 任务退化 &lt;1.5 分）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C1443C"/>
                </a:solidFill>
              </a:rPr>
              <a:t>• ⑧ gate held-out 验证（precision ≥0.98，误跳损失 &lt;0.3 分；否则 D' 降级为 oracle/ablation）+ far_tokens 曲线图 + 多 seed 置信区间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222222"/>
                </a:solidFill>
              </a:rPr>
              <a:t>• ⑨ 论文写作（MLSys/ASPLOS/SC 骨架：算法边界 + 系统集成 + 负结果护城河）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