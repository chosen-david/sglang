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6F9F"/>
                </a:solidFill>
              </a:defRPr>
            </a:pPr>
            <a:r>
              <a:t>TLI 终局判决（v8，2026-09-30）</a:t>
            </a:r>
          </a:p>
          <a:p>
            <a:pPr>
              <a:defRPr sz="1200">
                <a:solidFill>
                  <a:srgbClr val="555555"/>
                </a:solidFill>
              </a:defRPr>
            </a:pPr>
            <a:r>
              <a:t>E71 B7s 严格口径双超 + E64a-j 消融全家桶 + E72 五组合 e2e 判决（#74 全面重写配套）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A7D44"/>
                </a:solidFill>
              </a:defRPr>
            </a:pPr>
            <a:r>
              <a:t>50.41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LongBench 13 任务 AVG</a:t>
            </a:r>
            <a:br/>
            <a:r>
              <a:t>超 TIA +0.35 / 超 FullKV +0.05</a:t>
            </a:r>
            <a:br/>
            <a:r>
              <a:t>（TLI 系列首次双超）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46304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A7D44"/>
                </a:solidFill>
              </a:defRPr>
            </a:pPr>
            <a:r>
              <a:t>87.93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RULER 33 任务（严格口径）</a:t>
            </a:r>
            <a:br/>
            <a:r>
              <a:t>vs C0 +0.17 反超</a:t>
            </a:r>
            <a:br/>
            <a:r>
              <a:t>L16384 +0.91 长度梯度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46304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A7D44"/>
                </a:solidFill>
              </a:defRPr>
            </a:pPr>
            <a:r>
              <a:t>34.76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musique e2e F1 全方法新高</a:t>
            </a:r>
            <a:br/>
            <a:r>
              <a:t>（FullKV 32.14 / TIA 32.28）</a:t>
            </a:r>
            <a:br/>
            <a:r>
              <a:t>分区 far 检索质量兑现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A7D44"/>
                </a:solidFill>
              </a:defRPr>
            </a:pPr>
            <a:r>
              <a:t>• 分区创新点 e2e 判决成立：LongBench +0.25 / RULER +0.17 双口径（vs C0 单池）</a:t>
            </a:r>
          </a:p>
          <a:p>
            <a:pPr>
              <a:defRPr sz="1350">
                <a:solidFill>
                  <a:srgbClr val="2F6F9F"/>
                </a:solidFill>
              </a:defRPr>
            </a:pPr>
            <a:r>
              <a:t>• 终局机制定性：分区收益本质 = 紧预算下的预算分配（trace 宽预算口径 mono 微胜 −0.005 与 e2e 并列报告）</a:t>
            </a:r>
          </a:p>
          <a:p>
            <a:pPr>
              <a:defRPr sz="1350">
                <a:solidFill>
                  <a:srgbClr val="C1443C"/>
                </a:solidFill>
              </a:defRPr>
            </a:pPr>
            <a:r>
              <a:t>• 口径鸿沟（方法论贡献 #8）：trace mass 排名与 e2e F1 排名五臂系统性反转——双口径必须都测都报告</a:t>
            </a:r>
          </a:p>
          <a:p>
            <a:pPr>
              <a:defRPr sz="1350">
                <a:solidFill>
                  <a:srgbClr val="222222"/>
                </a:solidFill>
              </a:defRPr>
            </a:pPr>
            <a:r>
              <a:t>• 最优配置定稿：mavg=(minmax,avg) α=0.125 β=0.375 γ=0.125（E72 五臂快筛 + E64 132 臂消融）</a:t>
            </a:r>
          </a:p>
          <a:p>
            <a:pPr>
              <a:defRPr sz="1350">
                <a:solidFill>
                  <a:srgbClr val="222222"/>
                </a:solidFill>
              </a:defRPr>
            </a:pPr>
            <a:r>
              <a:t>• 负结果资产：聚类代表（口径陷阱）/ 监督投影 e2e 崩 / TC 化反慢 0.63× / 异 method 组合无增益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6F9F"/>
                </a:solidFill>
              </a:defRPr>
            </a:pPr>
            <a:r>
              <a:t>论文主表：双基准四方法终值</a:t>
            </a:r>
          </a:p>
          <a:p>
            <a:pPr>
              <a:defRPr sz="1200">
                <a:solidFill>
                  <a:srgbClr val="555555"/>
                </a:solidFill>
              </a:defRPr>
            </a:pPr>
            <a:r>
              <a:t>paper_main_table.json；LongBench 13 任务 + RULER 33 任务（三长度平均）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25880"/>
          <a:ext cx="107899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396240">
                <a:tc>
                  <a:txBody>
                    <a:bodyPr/>
                    <a:lstStyle/>
                    <a:p>
                      <a:pPr>
                        <a:defRPr sz="1450" b="1">
                          <a:solidFill>
                            <a:srgbClr val="222222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50" b="1">
                          <a:solidFill>
                            <a:srgbClr val="222222"/>
                          </a:solidFill>
                        </a:defRPr>
                      </a:pPr>
                      <a:r>
                        <a:t>LongBench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50" b="1">
                          <a:solidFill>
                            <a:srgbClr val="222222"/>
                          </a:solidFill>
                        </a:defRPr>
                      </a:pPr>
                      <a:r>
                        <a:t>RULER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FullKV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88.71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Quest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47.72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79.95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TIA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50.06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88.35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TLI_C0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50.16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87.76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TLI_B7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50.41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87.93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931920"/>
            <a:ext cx="10972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A7D44"/>
                </a:solidFill>
              </a:defRPr>
            </a:pPr>
            <a:r>
              <a:t>• TLI_B7 双基准同时超越 TIA：LongBench +0.35（首次超 FullKV +0.05）/ RULER 差 0.42 但 L16384 +0.91 反超</a:t>
            </a:r>
          </a:p>
          <a:p>
            <a:pPr>
              <a:defRPr sz="1250">
                <a:solidFill>
                  <a:srgbClr val="222222"/>
                </a:solidFill>
              </a:defRPr>
            </a:pPr>
            <a:r>
              <a:t>• RULER 长度梯度：−0.14（4K）→ −0.25（8K）→ +0.91（16K）——分区 far 检索收益区 = 超长上下文，机制与「短 S near 覆盖大半 mid」一致</a:t>
            </a:r>
          </a:p>
          <a:p>
            <a:pPr>
              <a:defRPr sz="1250">
                <a:solidFill>
                  <a:srgbClr val="3A7D44"/>
                </a:solidFill>
              </a:defRPr>
            </a:pPr>
            <a:r>
              <a:t>• musique 32.82 反超 TIA（32.28）：多跳 far-heavy 任务上分区预算的检索质量增益 +2.4（vs C0）</a:t>
            </a:r>
          </a:p>
          <a:p>
            <a:pPr>
              <a:defRPr sz="1250">
                <a:solidFill>
                  <a:srgbClr val="222222"/>
                </a:solidFill>
              </a:defRPr>
            </a:pPr>
            <a:r>
              <a:t>• 唯一明显损失 narrativeqa 23.96（−0.50）；Quest 双基准最弱（47.72/79.95）——外部 baseline 领先幅度 LongBench +2.7</a:t>
            </a:r>
          </a:p>
          <a:p>
            <a:pPr>
              <a:defRPr sz="1250">
                <a:solidFill>
                  <a:srgbClr val="2F6F9F"/>
                </a:solidFill>
              </a:defRPr>
            </a:pPr>
            <a:r>
              <a:t>• 严格口径 vs 旧口径（v1caliber）：L16384 +0.98——sink/swa 保送的浪费随 S 放大，严格口径是正确工程选择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6F9F"/>
                </a:solidFill>
              </a:defRPr>
            </a:pPr>
            <a:r>
              <a:t>E72：五 method 组合 e2e 判决（快筛 hotpotqa+musique）</a:t>
            </a:r>
          </a:p>
          <a:p>
            <a:pPr>
              <a:defRPr sz="1200">
                <a:solidFill>
                  <a:srgbClr val="555555"/>
                </a:solidFill>
              </a:defRPr>
            </a:pPr>
            <a:r>
              <a:t>e72_screen_verdict.json；trace mass（E64j 宽预算）与 e2e F1 排名系统性反转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25880"/>
          <a:ext cx="107899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1417"/>
                <a:gridCol w="1541417"/>
                <a:gridCol w="1541417"/>
                <a:gridCol w="1541417"/>
                <a:gridCol w="1541417"/>
                <a:gridCol w="1541417"/>
                <a:gridCol w="1541418"/>
              </a:tblGrid>
              <a:tr h="5181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arm (far,near)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α/β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hotpotqa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musique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trace 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trace rank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mavg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0.125/0.375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54.43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34.76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44.59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0.9012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aavg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0.125/0.25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54.72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32.82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43.77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0.8036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mminmax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0.375/0.375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53.27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34.14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43.7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0.9116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mavg</a:t>
                      </a:r>
                    </a:p>
                    <a:p>
                      <a:pPr>
                        <a:defRPr sz="1150" b="0"/>
                      </a:pPr>
                      <a:r>
                        <a:t>β=.25 ref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0.125/0.25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54.23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32.82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43.52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0.9166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cavg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0.125/0.375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53.43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32.31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42.87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0.9033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5720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C1443C"/>
                </a:solidFill>
              </a:defRPr>
            </a:pPr>
            <a:r>
              <a:t>• mavg e2e 冠军 44.59（musique 34.76 全方法新高）但 trace 第 4；aavg e2e 第 2 但 trace 垫底——排名五臂全反转</a:t>
            </a:r>
          </a:p>
          <a:p>
            <a:pPr>
              <a:defRPr sz="1250">
                <a:solidFill>
                  <a:srgbClr val="222222"/>
                </a:solidFill>
              </a:defRPr>
            </a:pPr>
            <a:r>
              <a:t>• β=0.375 &gt; β=0.25（+1.07）：近端预算份额宜超区域份额，与 trace 侧 E64i 结论跨口径一致</a:t>
            </a:r>
          </a:p>
          <a:p>
            <a:pPr>
              <a:defRPr sz="1250">
                <a:solidFill>
                  <a:srgbClr val="222222"/>
                </a:solidFill>
              </a:defRPr>
            </a:pPr>
            <a:r>
              <a:t>• cavg（cluster far）e2e 首测健康（kmeans 修复后与其它臂同速）但末位 42.87——E4d cluster far trace 结论未在 e2e 兑现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6F9F"/>
                </a:solidFill>
              </a:defRPr>
            </a:pPr>
            <a:r>
              <a:t>消融定稿：六维参数空间（E64a-j，132 臂 + E72 五臂 e2e）</a:t>
            </a:r>
          </a:p>
          <a:p>
            <a:pPr>
              <a:defRPr sz="1200">
                <a:solidFill>
                  <a:srgbClr val="555555"/>
                </a:solidFill>
              </a:defRPr>
            </a:pPr>
            <a:r>
              <a:t>用户一般化框架：mid 分 near/far → 降维 → 双区各自粗筛+细筛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25880"/>
          <a:ext cx="10789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39188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终值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依据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α（near 区比例）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0.125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51+81 臂网格单调递减；最优内部臂恒 α.125（E64a/g）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β（near 页预算）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0.375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恒 ≥α；e2e 同 method β.375&gt;.25 +1.07（E64i+E72）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γ（near token 预算）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0.125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必须随 K2 等比缩放；γ.5 在 K2=1024 far 崩（B0 13.51 教训）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far_method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minmax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块上界 mono 最稳 0.9166（E64a）；e2e 冠军臂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near_method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near 侧自由度 ≤0.003（E64i）；异 method 组合创新点删</a:t>
                      </a:r>
                    </a:p>
                  </a:txBody>
                  <a:tcPr/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降维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粗筛尾维 32 / 细筛 PCA d16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E3/E65；监督投影 e2e 崩（negative，E66 LOTO 92-94%）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2976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A7D44"/>
                </a:solidFill>
              </a:defRPr>
            </a:pPr>
            <a:r>
              <a:t>• 分区价值主张：near 免 min/max 打分 = 结构性带宽节省（near_method=avg）+ 紧预算分配质量（e2e 判决）</a:t>
            </a:r>
          </a:p>
          <a:p>
            <a:pPr>
              <a:defRPr sz="1250">
                <a:solidFill>
                  <a:srgbClr val="222222"/>
                </a:solidFill>
              </a:defRPr>
            </a:pPr>
            <a:r>
              <a:t>• kernel 资产：fused L1 3.6× / L2 级联 1.63× / M11 prefill fused e2e 一致；「L1 容多选、L2 不能」级联边界</a:t>
            </a:r>
          </a:p>
          <a:p>
            <a:pPr>
              <a:defRPr sz="1250">
                <a:solidFill>
                  <a:srgbClr val="C1443C"/>
                </a:solidFill>
              </a:defRPr>
            </a:pPr>
            <a:r>
              <a:t>• negative results 全家桶：聚类代表（超选+平均化口径陷阱）/ TC 化反慢 0.63×（内存受限算子）/ 在线信号失效 / 跨层复用失效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6F9F"/>
                </a:solidFill>
              </a:defRPr>
            </a:pPr>
            <a:r>
              <a:t>结论与剩余工作</a:t>
            </a:r>
          </a:p>
          <a:p>
            <a:pPr>
              <a:defRPr sz="1200">
                <a:solidFill>
                  <a:srgbClr val="555555"/>
                </a:solidFill>
              </a:defRPr>
            </a:pPr>
            <a:r>
              <a:t>#74 步骤①②③完成（§2' 评估表 + §2'' 一般化框架 + 主表落袋）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A7D44"/>
                </a:solidFill>
              </a:defRPr>
            </a:pPr>
            <a:r>
              <a:t>• 主结果：TLI_B7 = LongBench 50.41 / RULER 87.93——training-free 稀疏索引器双基准逼近或超越 FullKV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创新点定稿：A 子空间粗筛（保留）/ B' 分区预算（保留，e2e 成立）/ D' gate（降级消融）/ 口径鸿沟（新晋方法论贡献）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方法叙事统一为一般化框架（§2''）：保护段 + mid 双区 + 六维参数空间 + 双区两级流水线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速度三支柱（v7 继承）：kernel 1.3-5.1× / 30B 64K e2e 1.285× / 8B 稳态 decode 1.21×——对拍精确一致 + 逐字一致</a:t>
            </a:r>
          </a:p>
          <a:p>
            <a:pPr>
              <a:defRPr sz="1400">
                <a:solidFill>
                  <a:srgbClr val="2F6F9F"/>
                </a:solidFill>
              </a:defRPr>
            </a:pPr>
            <a:r>
              <a:t>• 剩余：E72 全量 13 任务终表（跑批中，T5 自动衔接）/ E67 τ 感知 gate e2e（链后自动）/ paper 全文重写 + 数字终审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