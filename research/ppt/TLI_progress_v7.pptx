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F6F9F"/>
                </a:solidFill>
              </a:rPr>
              <a:t>TLI 终局数据总览（v7，2026-09-28）</a:t>
            </a:r>
          </a:p>
          <a:p>
            <a:r>
              <a:rPr sz="1250">
                <a:solidFill>
                  <a:srgbClr val="555555"/>
                </a:solidFill>
              </a:rPr>
              <a:t>#65/#66 收官：RULER 四方法终表 + e2e 收益区兑现 + 双口径诚实报告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A7D44"/>
                </a:solidFill>
              </a:rPr>
              <a:t>1.285×</a:t>
            </a:r>
          </a:p>
          <a:p>
            <a:r>
              <a:rPr sz="1050">
                <a:solidFill>
                  <a:srgbClr val="555555"/>
                </a:solidFill>
              </a:rPr>
              <a:t>30B 单请求 64K e2e 领先 dense
（16.39s vs 21.06s，从 1.005× 翻正）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46304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A7D44"/>
                </a:solidFill>
              </a:rPr>
              <a:t>1.3–5.1×</a:t>
            </a:r>
          </a:p>
          <a:p>
            <a:r>
              <a:rPr sz="1050">
                <a:solidFill>
                  <a:srgbClr val="555555"/>
                </a:solidFill>
              </a:rPr>
              <a:t>kernel 级两级选择 vs dense
（32K→128K 梯度，H20 实测）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6304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A7D44"/>
                </a:solidFill>
              </a:rPr>
              <a:t>4.00×/1.94×</a:t>
            </a:r>
          </a:p>
          <a:p>
            <a:r>
              <a:rPr sz="1050">
                <a:solidFill>
                  <a:srgbClr val="555555"/>
                </a:solidFill>
              </a:rPr>
              <a:t>8B 稳态 prefill/decode 批量收益
（733.9→183.4s / 65→33.5ms）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>
                <a:solidFill>
                  <a:srgbClr val="3A7D44"/>
                </a:solidFill>
              </a:rPr>
              <a:t>• RULER 官方口径四方法终表：TLI 对 Quest 领先 +2.91→+4.42→+8.49 超线性扩大（外部主 baseline 成立）</a:t>
            </a:r>
          </a:p>
          <a:p>
            <a:pPr>
              <a:spcAft>
                <a:spcPts val="500"/>
              </a:spcAft>
            </a:pPr>
            <a:r>
              <a:rPr sz="1350">
                <a:solidFill>
                  <a:srgbClr val="2F6F9F"/>
                </a:solidFill>
              </a:rPr>
              <a:t>• 对 TIA 代价 −0.81→−2.72→−5.86，差距集中于 multikey_3 + cwe 两任务族（精度代价点精确定位，机制清晰）</a:t>
            </a:r>
          </a:p>
          <a:p>
            <a:pPr>
              <a:spcAft>
                <a:spcPts val="500"/>
              </a:spcAft>
            </a:pPr>
            <a:r>
              <a:rPr sz="1350">
                <a:solidFill>
                  <a:srgbClr val="C1443C"/>
                </a:solidFill>
              </a:rPr>
              <a:t>• 诚实报告：30B TP2 bs16 64K = 0.92×（差 8%，launch-bound 归因+跨请求批量化 future work）；near 池 DS No-Go（tie jaccard 0.72）</a:t>
            </a:r>
          </a:p>
          <a:p>
            <a:pPr>
              <a:spcAft>
                <a:spcPts val="500"/>
              </a:spcAft>
            </a:pPr>
            <a:r>
              <a:rPr sz="1350">
                <a:solidFill>
                  <a:srgbClr val="222222"/>
                </a:solidFill>
              </a:rPr>
              <a:t>• 优化链：早期行向量化 4× / bf16+pad 直出 / DS topk（L1+far）/ GPU 同步消除（8B prefill −6.7%）</a:t>
            </a:r>
          </a:p>
          <a:p>
            <a:pPr>
              <a:spcAft>
                <a:spcPts val="500"/>
              </a:spcAft>
            </a:pPr>
            <a:r>
              <a:rPr sz="1350">
                <a:solidFill>
                  <a:srgbClr val="222222"/>
                </a:solidFill>
              </a:rPr>
              <a:t>• LongBench 主表（多跳口径）：TLI 49.92 vs TIA 50.06（−0.14）vs FullKV 50.36——与 RULER 单跳口径互补并报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F6F9F"/>
                </a:solidFill>
              </a:rPr>
              <a:t>RULER 官方数据四方法终表（#66 收官）</a:t>
            </a:r>
          </a:p>
          <a:p>
            <a:r>
              <a:rPr sz="1250">
                <a:solidFill>
                  <a:srgbClr val="555555"/>
                </a:solidFill>
              </a:rPr>
              <a:t>3 长度 × 11 任务 × n=100，ruler_table_final.json；transformers 主表口径（与 LongBench E5b 同管线）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latin typeface="Consolas"/>
              </a:rPr>
              <a:t>length           TIA@1024   FullKV TLI@1024Quest@1024</a:t>
            </a:r>
          </a:p>
          <a:p>
            <a:pPr>
              <a:spcAft>
                <a:spcPts val="200"/>
              </a:spcAft>
            </a:pPr>
            <a:r>
              <a:rPr sz="1300" b="0">
                <a:latin typeface="Consolas"/>
              </a:rPr>
              <a:t>L4096               91.63    91.59    90.82    87.91</a:t>
            </a:r>
          </a:p>
          <a:p>
            <a:pPr>
              <a:spcAft>
                <a:spcPts val="200"/>
              </a:spcAft>
            </a:pPr>
            <a:r>
              <a:rPr sz="1300" b="0">
                <a:latin typeface="Consolas"/>
              </a:rPr>
              <a:t>L8192               88.90    89.14    86.18    81.76</a:t>
            </a:r>
          </a:p>
          <a:p>
            <a:pPr>
              <a:spcAft>
                <a:spcPts val="200"/>
              </a:spcAft>
            </a:pPr>
            <a:r>
              <a:rPr sz="1300" b="0">
                <a:latin typeface="Consolas"/>
              </a:rPr>
              <a:t>L16384              84.53    85.41    78.67    70.18</a:t>
            </a:r>
          </a:p>
          <a:p>
            <a:pPr>
              <a:spcAft>
                <a:spcPts val="200"/>
              </a:spcAft>
            </a:pPr>
            <a:r>
              <a:rPr sz="1300" b="0">
                <a:latin typeface="Consolas"/>
              </a:rPr>
              <a:t>AVG(3L)             88.35    88.71    85.22    79.95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3A7D44"/>
                </a:solidFill>
              </a:rPr>
              <a:t>• TLI − Quest：+2.91 → +4.42 → +8.49 超线性扩大——16K Quest 崩塌（multikey_3 21 / cwe 29.5），TLI 同任务 52 / 54.9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F6F9F"/>
                </a:solidFill>
              </a:rPr>
              <a:t>• TIA − TLI：−0.81 → −2.72 → −5.86——差距集中于 multikey_3（16K：89 vs 52）+ cwe（78.9 vs 54.9）两任务族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   ↳ 机制：K1 块配额被超多干扰 key 稀释 + far/near 分区挤占逐词召回预算（vs TIA token 级全预算）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其余任务零差或反超：fwe 16K TLI 94.67 &gt; TIA 92.67（稀疏降噪正向例）；multivalue = FullKV 持平（列举上限）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555555"/>
                </a:solidFill>
              </a:rPr>
              <a:t>• multiquery 25 = 任务上限（四方法一致）；聚合类 FullKV 自身随长度退化 → gap 须同长度基线解读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F6F9F"/>
                </a:solidFill>
              </a:rPr>
              <a:t>e2e 收益区终值（#65 收官，同机同臂）</a:t>
            </a:r>
          </a:p>
          <a:p>
            <a:r>
              <a:rPr sz="1250">
                <a:solidFill>
                  <a:srgbClr val="555555"/>
                </a:solidFill>
              </a:rPr>
              <a:t>kernel 级 microbench + e2e 双口径都测都诚实报告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latin typeface="Consolas"/>
              </a:rPr>
              <a:t>bench               dense    TLI 旧    TLI 终TLI/dense</a:t>
            </a:r>
          </a:p>
          <a:p>
            <a:pPr>
              <a:spcAft>
                <a:spcPts val="200"/>
              </a:spcAft>
            </a:pPr>
            <a:r>
              <a:rPr sz="1200" b="0">
                <a:latin typeface="Consolas"/>
              </a:rPr>
              <a:t>30B 单请求 64K        21.06s   21.20s   16.39s   1.285×</a:t>
            </a:r>
          </a:p>
          <a:p>
            <a:pPr>
              <a:spcAft>
                <a:spcPts val="200"/>
              </a:spcAft>
            </a:pPr>
            <a:r>
              <a:rPr sz="1200" b="0">
                <a:latin typeface="Consolas"/>
              </a:rPr>
              <a:t>30B 单请求 32K         5.71s   10.93s    7.38s    0.77×</a:t>
            </a:r>
          </a:p>
          <a:p>
            <a:pPr>
              <a:spcAft>
                <a:spcPts val="200"/>
              </a:spcAft>
            </a:pPr>
            <a:r>
              <a:rPr sz="1200" b="0">
                <a:latin typeface="Consolas"/>
              </a:rPr>
              <a:t>30B TP2 bs16 64K  106.24s  167.12s  115.28s    0.92×</a:t>
            </a:r>
          </a:p>
          <a:p>
            <a:pPr>
              <a:spcAft>
                <a:spcPts val="200"/>
              </a:spcAft>
            </a:pPr>
            <a:r>
              <a:rPr sz="1200" b="0">
                <a:latin typeface="Consolas"/>
              </a:rPr>
              <a:t>8B bs16 30K prefill        -   733.9s   183.4s   4.00×*</a:t>
            </a:r>
          </a:p>
          <a:p>
            <a:pPr>
              <a:spcAft>
                <a:spcPts val="200"/>
              </a:spcAft>
            </a:pPr>
            <a:r>
              <a:rPr sz="1200" b="0">
                <a:latin typeface="Consolas"/>
              </a:rPr>
              <a:t>8B bs16 30K decode   40.4ms   65.0ms   33.5ms    1.21×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3A7D44"/>
                </a:solidFill>
              </a:rPr>
              <a:t>• 64K 收益区翻正 = 稀疏理论流量收益首次 e2e 净兑现（1.005×→1.285×）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C1443C"/>
                </a:solidFill>
              </a:rPr>
              <a:t>• TP2 bs16 差 8% 未翻正（诚实归因）：16 req 逐请求 forward_extend Python 循环 → launch-bound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   ↳ 证据链：GPU util 100% 但显存带宽 util 10-11% + py-spy 主线程 100% CPU + 单 op 微基准全快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   ↳ 修复方向 = 跨请求批量化 forward_extend（M4 decode 同款，select_decode_batched 已验证）——future work 不阻塞论文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8B 稳态 decode 33.5ms 已反超 dense 40.4ms；*prefill 口径对 dense 1.60×（头数 Hkv=8 形态更重，30B Hkv=4 已 0.77×）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F6F9F"/>
                </a:solidFill>
              </a:rPr>
              <a:t>#65 优化链（commit 级）+ profiling 方法论</a:t>
            </a:r>
          </a:p>
          <a:p>
            <a:r>
              <a:rPr sz="1250">
                <a:solidFill>
                  <a:srgbClr val="555555"/>
                </a:solidFill>
              </a:rPr>
              <a:t>每一项优化都有 kernel 级 + e2e 双层验证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①prefill select 三连优化（a35acf260+0b7d2fcd4）：早期行向量化 4×（5K launch→单 op）/ fast_path 旁路 M10 kernel / dual kernel bf16+pad 直出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   ↳ 合成口径 6.81→3.31s（2.06×），jaccard 0.9961 逐位不变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②decode 侧 DS topk 接入（c3b1cb740）：L1+far 接 DeepSelect（near 保守保留——4bit tie 组巨大 jaccard 0.72 No-Go）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   ↳ decode select 非瓶颈定论：0.95ms/step@bs16/S=64K；DS 净效果 bs16 +10%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③GPU 同步消除（976ad78eb）：3 处 .item()/.any() host 同步 × 10 万次队列排空（合成 bench 测不出的口径盲区）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   ↳ 8B e2e prefill 196.8→183.4s（−6.7%）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F6F9F"/>
                </a:solidFill>
              </a:rPr>
              <a:t>• 方法论教训（profiling 章节素材）：逐 kernel microbench 与生产 e2e 的口径差 = host-GPU 流水线效应；同步消除类优化必须 e2e 层验证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④dyngate 全量定稿（#60）：三任务 gate 代价 AVG −0.17（远小于写入标准 0.3，远优于静态 D' 版 −4.8~−5.9）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222222"/>
                </a:solidFill>
              </a:rPr>
              <a:t>• ⑤负结果资产：H 卡 TMA/TC 化 No-Go / 聚类代表降级消融 / near DS No-Go / gate 判据 No-Go——全部有编号与脚本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A7D44"/>
                </a:solidFill>
              </a:rPr>
              <a:t>论文定位（定稿叙事）</a:t>
            </a:r>
          </a:p>
          <a:p>
            <a:r>
              <a:rPr sz="1250">
                <a:solidFill>
                  <a:srgbClr val="555555"/>
                </a:solidFill>
              </a:rPr>
              <a:t>速度卖点 + 可定位的精度代价 + 双口径互补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A7D44"/>
                </a:solidFill>
              </a:rPr>
              <a:t>• 对外（主 baseline）：同精度梯队碾压 Quest——RULER +2.91→+8.49 超线性 / LongBench +2.2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F6F9F"/>
                </a:solidFill>
              </a:rPr>
              <a:t>• 同门内（消融基准）：TLI 用可定位的精度代价（multikey_3+cwe 两任务族，机制清晰）换速度分层——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•    kernel 级 1.3-5.1× + 单请求 e2e 1.285×@64K + 8B 稳态 4.00×/1.94× + dyngate −0.17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• 口径互补：RULER 单跳检索口径放大 TLI 精度代价；LongBench 多跳口径放大小收益（musique/qasper 与 TIA 差 &lt;0.3）——两表并存并报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• 剩余 future work：跨请求批量化 forward_extend（TP2 bs16 差 8% 的根因）/ H100 吞吐主表 / gate stat per-row 生产语义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• 论文写作：TWO_LEVEL_PAPER_REPORT.md §8b 为事实底稿（E1-E8 + #60-#66 全部终局数据已收齐）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