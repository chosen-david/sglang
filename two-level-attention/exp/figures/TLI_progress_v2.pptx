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F6F9F"/>
                </a:solidFill>
              </a:rPr>
              <a:t>TLI: Two-Level Indexer</a:t>
            </a:r>
          </a:p>
          <a:p>
            <a:pPr algn="ctr"/>
            <a:r>
              <a:rPr sz="1800">
                <a:solidFill>
                  <a:srgbClr val="222222"/>
                </a:solidFill>
              </a:rPr>
              <a:t>Training-free 稀疏注意力索引器：A 子空间 + B' 分区预算 + D' 层跳过</a:t>
            </a:r>
          </a:p>
          <a:p>
            <a:pPr algn="ctr"/>
            <a:r>
              <a:rPr sz="1300">
                <a:solidFill>
                  <a:srgbClr val="555555"/>
                </a:solidFill>
              </a:rPr>
              <a:t>进展汇报 v2 ｜ Qwen3-8B 真实权重 × 10 条真实 trace × 2×H20 ｜ 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论文定位与贡献</a:t>
            </a:r>
          </a:p>
          <a:p>
            <a:r>
              <a:rPr sz="1300">
                <a:solidFill>
                  <a:srgbClr val="555555"/>
                </a:solidFill>
              </a:rPr>
              <a:t>全部结论有真实 trace 实测支撑（脚本+数据可复现）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F6F9F"/>
                </a:solidFill>
              </a:rPr>
              <a:t>• A 位置稳定子空间粗筛：L1 块 min/max 只在低频尾维 d'=32 计算（4× 削减）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E3: mass recall 0.729 ≈ 全维 0.732；random 0.32 / highfreq 0.14 崩溃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A7D44"/>
                </a:solidFill>
              </a:rPr>
              <a:t>• B' far/near 分区 L2 预算：远端独立 top-K2 池，防被近端高分挤出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E5b debug: far-heavy 层 TLI 0.9995/0.9997 vs TIA 0.9990/0.9929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1443C"/>
                </a:solidFill>
              </a:rPr>
              <a:t>• D' 离线校准层跳过：13/36 层免远端检索（静态掩码，零在线开销）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E6: precision 0.92–1.00，far 质量损失 &lt;0.3%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索引侧收益（E8）: FLOP 2.57×（跳层 4.88×）；Triton fused L1 kernel 3.6×/1.6×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</a:rPr>
              <a:t>• Negative results 护城河：严格预算下聚类代表无优势（E4c）+ 在线信号失效（E5）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146304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2.57×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索引 FLOP 全层平均（E8-1）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301752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0.9998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TLI mass 覆盖（36 层均值，vs TIA 0.9990）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572000"/>
            <a:ext cx="3840480" cy="13716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3.6×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fused L1 kernel vs eager（S=128K）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动机：注意力的真实形态是三层分解（H1）</a:t>
            </a:r>
          </a:p>
          <a:p>
            <a:r>
              <a:rPr sz="1300">
                <a:solidFill>
                  <a:srgbClr val="555555"/>
                </a:solidFill>
              </a:rPr>
              <a:t>「近端集中」叙事在 mass 口径下不成立；dense top-1024 mass 覆盖恒为 1.0000</a:t>
            </a:r>
          </a:p>
        </p:txBody>
      </p:sp>
      <p:pic>
        <p:nvPicPr>
          <p:cNvPr id="3" name="Picture 2" descr="fig1_h1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204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sink（前 64 tok）：0.37–0.71 质量大头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near（末 2048 tok）：0.16–0.29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far（中间区）：0.02–0.29，任务相关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TIA@1024≈FullKV 根因：dense top-1024 已覆盖全部 mass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→ 论文动机：far 层的挤出风险 + 索引开销，而非「召回远端」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A：位置稳定子空间粗筛</a:t>
            </a:r>
          </a:p>
          <a:p>
            <a:r>
              <a:rPr sz="1300">
                <a:solidFill>
                  <a:srgbClr val="555555"/>
                </a:solidFill>
              </a:rPr>
              <a:t>E3: 低频尾维 d'=32 ≈ 全维 128（选错维度崩溃）</a:t>
            </a:r>
          </a:p>
        </p:txBody>
      </p:sp>
      <p:pic>
        <p:nvPicPr>
          <p:cNvPr id="3" name="Picture 2" descr="fig2_e3_sub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875520" cy="529363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0.729 vs 0.732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d'=32 vs d'=128 mass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4×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L1 索引维度（HBM 同步减）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577840"/>
            <a:ext cx="3474720" cy="100584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C1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1443C"/>
                </a:solidFill>
              </a:rPr>
              <a:t>0.32 / 0.14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random / highfreq 子空间（崩溃）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创新点 B'：分区预算（含 E4c 口径修正）</a:t>
            </a:r>
          </a:p>
          <a:p>
            <a:r>
              <a:rPr sz="1300">
                <a:solidFill>
                  <a:srgbClr val="555555"/>
                </a:solidFill>
              </a:rPr>
              <a:t>E4b 的「kmeans 4–10×」含整簇超选 bug：budget=512 实取 2769 tok</a:t>
            </a:r>
          </a:p>
        </p:txBody>
      </p:sp>
      <p:pic>
        <p:nvPicPr>
          <p:cNvPr id="3" name="Picture 2" descr="fig3_e4c_stric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863840" cy="3578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645920"/>
            <a:ext cx="3108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严格预算 + per-head 加权重测（E4c）：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C1443C"/>
                </a:solidFill>
              </a:rPr>
              <a:t>• km_blk 0.09–0.39（最差）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km_tok 0.45–0.79（无一致优势）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A7D44"/>
                </a:solidFill>
              </a:rPr>
              <a:t>• 4bit token 级精筛 ≈ oracle 0.999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→ B 重定位为 far/near 分区预算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聚类降级为消融 + negative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创新点 D'：离线校准层跳过</a:t>
            </a:r>
          </a:p>
          <a:p>
            <a:r>
              <a:rPr sz="1300">
                <a:solidFill>
                  <a:srgbClr val="555555"/>
                </a:solidFill>
              </a:rPr>
              <a:t>far mass 层轮廓双峰 → 静态掩码；在线信号版已实测否定</a:t>
            </a:r>
          </a:p>
        </p:txBody>
      </p:sp>
      <p:pic>
        <p:nvPicPr>
          <p:cNvPr id="3" name="Picture 2" descr="fig4_e6_layer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949440" cy="4057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13/36 层可跳（τ=0.02）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precision 0.92–1.00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far 质量损失 &lt;0.3%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C1443C"/>
                </a:solidFill>
              </a:rPr>
              <a:t>• 在线 L1 信号与 far 质量相关 ≈0（E5）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→ D' 必须离线校准（结论写入 negative results）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架构</a:t>
            </a:r>
          </a:p>
          <a:p>
            <a:r>
              <a:rPr sz="1300">
                <a:solidFill>
                  <a:srgbClr val="555555"/>
                </a:solidFill>
              </a:rPr>
              <a:t>A + B' + D' 数据流（全部继承 TIA 两级语义）</a:t>
            </a:r>
          </a:p>
        </p:txBody>
      </p:sp>
      <p:pic>
        <p:nvPicPr>
          <p:cNvPr id="3" name="Picture 2" descr="fig7_tl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89920" cy="5036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索引开销与 fused kernel 原型（E8）</a:t>
            </a:r>
          </a:p>
          <a:p>
            <a:r>
              <a:rPr sz="1300">
                <a:solidFill>
                  <a:srgbClr val="555555"/>
                </a:solidFill>
              </a:rPr>
              <a:t>D' topk 截断到有效块数 = 真正兑现 L2 计算节省</a:t>
            </a:r>
          </a:p>
        </p:txBody>
      </p:sp>
      <p:pic>
        <p:nvPicPr>
          <p:cNvPr id="3" name="Picture 2" descr="fig5_e8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241280" cy="47302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E8-1: 跳层 4.88× / 非跳层 1.27×（A 子空间贡献）/ 全层平均 2.57×；attention 主计算量不变（K2 固定）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</a:rPr>
              <a:t>• E8-2: L1 fused 3.6×/1.6×（块 id 对拍一致）+ L2 级联 fused 1.63×（分区 topk 对拍 4096/4096）——完整两级仅 2 launches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TLI vs TIA 逐层质量（E5b debug，hotpotqa）</a:t>
            </a:r>
          </a:p>
          <a:p>
            <a:r>
              <a:rPr sz="1300">
                <a:solidFill>
                  <a:srgbClr val="555555"/>
                </a:solidFill>
              </a:rPr>
              <a:t>全 36 层 diff &lt; 0.001；far-heavy 层反超（分区防挤出）</a:t>
            </a:r>
          </a:p>
        </p:txBody>
      </p:sp>
      <p:pic>
        <p:nvPicPr>
          <p:cNvPr id="3" name="Picture 2" descr="fig6_tli_vs_tia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326880" cy="500069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3716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3A7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3A7D44"/>
                </a:solidFill>
              </a:rPr>
              <a:t>36/36 层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diff &lt; 0.001 vs 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5669280"/>
            <a:ext cx="3291840" cy="914400"/>
          </a:xfrm>
          <a:prstGeom prst="roundRect">
            <a:avLst/>
          </a:prstGeom>
          <a:solidFill>
            <a:srgbClr val="EFF3F8"/>
          </a:solidFill>
          <a:ln w="1905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6F9F"/>
                </a:solidFill>
              </a:rPr>
              <a:t>+0.0068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L05 反超 TIA（0.9997 vs 0.9929）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E5b：LongBench 13 子集主表（已完成）</a:t>
            </a:r>
          </a:p>
          <a:p>
            <a:r>
              <a:rPr sz="1300">
                <a:solidFill>
                  <a:srgbClr val="555555"/>
                </a:solidFill>
              </a:rPr>
              <a:t>TLI −0.14 vs TIA / −0.44 vs FullKV，同时索引 FLOP 2.57×（E8-1）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1">
                <a:latin typeface="Consolas"/>
              </a:rPr>
              <a:t>task              FullKV   Quest     TIA     TWI     TLI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hotpotqa           53.48   45.74   53.89   48.98   53.96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2wikimqa           38.29   38.46   38.27   36.16   39.07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musique            32.14   27.25   32.28   23.60   31.35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passage_ret_en     100.0   98.50   99.50   98.50   100.0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qasper             44.17   40.13   44.03   38.96   44.03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multifieldqa_en    53.40   51.01   53.19   48.11   52.98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gov_report         33.17   32.13   33.43   33.09   32.41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qmsum              23.53   22.21   23.90   23.98   22.77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multi_news         24.93   24.95   24.73   24.99   24.66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narrativeqa        25.61   20.64   22.18   26.19   23.14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triviaqa           90.71   87.55   89.82   89.59   90.22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lcc                68.81   68.34   69.14   66.22   68.74</a:t>
            </a:r>
          </a:p>
          <a:p>
            <a:pPr>
              <a:spcAft>
                <a:spcPts val="200"/>
              </a:spcAft>
            </a:pPr>
            <a:r>
              <a:rPr sz="1250" b="0">
                <a:latin typeface="Consolas"/>
              </a:rPr>
              <a:t>repobench-p        66.50   63.41   66.40   63.87   65.59</a:t>
            </a:r>
          </a:p>
          <a:p>
            <a:pPr>
              <a:spcAft>
                <a:spcPts val="200"/>
              </a:spcAft>
            </a:pPr>
            <a:r>
              <a:rPr sz="1250" b="1">
                <a:solidFill>
                  <a:srgbClr val="222222"/>
                </a:solidFill>
                <a:latin typeface="Consolas"/>
              </a:rPr>
              <a:t>AVG                50.36   47.72   50.06   47.86   49.92</a:t>
            </a:r>
            <a:r>
              <a:rPr sz="1100" b="1">
                <a:solidFill>
                  <a:srgbClr val="3A7D44"/>
                </a:solidFill>
              </a:rPr>
              <a:t>  ← TLI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406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A7D44"/>
                </a:solidFill>
              </a:rPr>
              <a:t>• TLI = A+B'+D'-gated：far 总量 &lt;0.3 的任务启用 D' 层掩码（4.88× 索引省算），多跳任务（far 0.55-0.95）不跳层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C1443C"/>
                </a:solidFill>
              </a:rPr>
              <a:t>• 本轮 negative result：D' 全局掩码跨任务不泛化（musique −4.83 等）；per-task 重校准也失败（长度失配）→ far 总量 gate 是正确设计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1443C"/>
                </a:solidFill>
              </a:rPr>
              <a:t>Negative Results（论文护城河）</a:t>
            </a:r>
          </a:p>
          <a:p>
            <a:r>
              <a:rPr sz="1300">
                <a:solidFill>
                  <a:srgbClr val="555555"/>
                </a:solidFill>
              </a:rPr>
              <a:t>每一项都有实测编号与脚本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E4c：严格 token 预算下，kmeans 聚类代表（块 scatter-amax 0.09–0.39 / token topk 0.45–0.79）无一致优势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E4b 的 4–10× 占优含整簇超选 bug（5.4× 超预算）+ head 平均口径虚高——口径陷阱本身是方法论贡献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E5：跨层 mask 复用 IoU 0.33；decode 步间 churn 22%；在线 L1 信号与 far 质量相关 ≈ 0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否定「跨层复用」「增量 topk」「在线自适应」三条捷径，确立 D' 必须离线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H1：dense top-1024 mass 覆盖恒为 1.0000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222222"/>
                </a:solidFill>
              </a:rPr>
              <a:t>•    ↳ 该领域的 recall 口径会系统性高估稀疏方法差距，mass + 端到端分数才是有效口径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F6F9F"/>
                </a:solidFill>
              </a:rPr>
              <a:t>待办与计划</a:t>
            </a:r>
          </a:p>
          <a:p>
            <a:r>
              <a:rPr sz="1300">
                <a:solidFill>
                  <a:srgbClr val="555555"/>
                </a:solidFill>
              </a:rPr>
              <a:t>优先级序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① ~~E5b 主表~~ ✅ 49.92（−0.14 vs TIA）+ D' far 总量 gate 设计修正 + negative results 入册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② sglang M2：TileLang kernel + paged gather + 稀疏 prefill（分支已基于最新 main，M1 已提交）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③ sglang M3：CUDA graph + e2e 吞吐主表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④ ~~消融表~~ ✅（trace 级四组合 + far_tokens 敏感性 + D' 三任务消融 3/3）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⑤ ~~L2 fused kernel~~ ✅（单 launch 分区 topk，对拍 4096/4096，1.63×）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⑥ Qwen3-14B/32B 复验 A/D' 层掩码泛化性（含 far 总量 gate 判据复验）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⑦ 论文写作（骨架见 TWO_LEVEL_PAPER_REPORT.md，主表已齐）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